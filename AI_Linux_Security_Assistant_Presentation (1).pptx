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249" autoAdjust="0"/>
    <p:restoredTop sz="94610"/>
  </p:normalViewPr>
  <p:slideViewPr>
    <p:cSldViewPr snapToGrid="0" snapToObjects="1">
      <p:cViewPr>
        <p:scale>
          <a:sx n="55" d="100"/>
          <a:sy n="55" d="100"/>
        </p:scale>
        <p:origin x="1461" y="90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9133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My name is Basaaria Imroz, and today I'll be presenting my project, the AI Linux Security Assistant, built during my AI and Cybersecurity internship with the School of Computer Applications in collaboration with Ditto Security. In one line: it's an intelligent tutor that explains Linux commands, analyzes file permissions, and recommends hardening steps -- and it never actually executes anything the user types, so it's completely safe to experiment with. Let's get into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quick roadmap for the next few minutes. I'll start with the problem this project solves, then compare the existing manual approach with what I built. After that I'll walk through the system architecture, give a live look at the four core features with actual screenshots, share my testing results, and close with scope, limitations, and what I'd add next.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why does this project matter? Linux is extremely powerful, but that power cuts both ways for a beginner. Students often hit a permission error, search online, copy the first command that promises to 'fix' it, and run it without understanding the side effects. The classic example is right here: chmod 777. It looks like a quick fix, but it actually gives read, write, and execute access to literally everyone on the system -- the owner, the group, AND every other user. That's a critical security risk, and a safer choice would be something like chmod 750 or 640 depending on the file. My project exists to catch exactly this kind of mistake before it happens, not after.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compare the old way of doing this with what I built. Today, students rely on search engines, scattered tutorials, and trial and error. Permission strings like rwxrwxrwx have to be decoded by hand, risk awareness depends entirely on how experienced the learner is, and commands often get copy-pasted and run without any real review. Documentation, if it happens at all, is just manual notes or screenshots. My assistant replaces that with one dashboard where you drop in a command, terminal output, or permission string, and instantly get an automatic owner-group-other breakdown, a consistent Low-to-Critical risk rating, and -- most importantly -- the command is only ever parsed as text, never executed. And at the end, you get a one-click PDF report for documentation.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objectives guided every design decision. First, explain -- turn a raw command into plain-English purpose and usage. Second, analyze -- break permissions down into owner, group, and other. Third, classify -- give every finding a consistent risk rating so nothing is left ambiguous. Fourth, recommend -- don't just flag the problem, suggest the least-privilege fix. Fifth, harden -- provide a reusable checklist for SSH, firewall, accounts, and updates. And sixth, report -- generate a downloadable record of the whole assessment. Together these objectives turn the tool from a simple checker into a genuine tutor.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the hood, the system follows a ReAct-inspired reasoning loop -- Thought, Action, Observation, repeated until a final recommendation is ready. Walking through the example on screen: the user enters chmod 777 on a script. The agent's first Thought is to identify the command and its security context. Its Action is to parse the command and inspect the permission mode. The Observation comes back: broad write and execute access detected. It then takes another Action to produce a least-privilege recommendation, and finally delivers the advice -- use chmod 750 after confirming the actual access need. On the right, you can see this same loop generalized: Thought, Action, Observation, then a second Action for hardening suggestions, ending in a security score and full report.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technology side, I deliberately kept the stack lightweight and entirely free and open-source. Python 3.11 handles all the parsing and rule logic, Streamlit gives me an interactive dashboard without writing any separate front-end code, and ReportLab generates the downloadable PDF. Pandas and Plotly power the structured displays and the security-score gauge. The core intelligence is a rule-based knowledge engine I built covering common commands and permission patterns, so the baseline tool works completely offline with zero API cost. I also added an optional hook for OpenAI, Gemini, or Ollama, so richer natural-language summaries can be layered on top later without changing the core architecture.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system is really four tools working together. The Command Explanation Tool covers commands like chmod, sudo, ssh, ufw, and iptables, giving purpose, syntax, options, and security considerations for each. The Permission Analyzer detects world-writable and world-executable files, weak modes, and SUID or SGID bits, and converts freely between symbolic and octal notation. The Hardening Recommendation Tool is a curated checklist covering SSH configuration, firewall policy, account hygiene, Fail2Ban, patching, and audit logging. And finally, the Security Report Generator pulls everything together into one downloadable PDF with a final security score out of 100. Let me show you these live.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actual running application. On the left is the sidebar where a user pastes a Linux command -- here, chmod 777 /var/www/html/script.sh -- and, optionally, a permission string like dash-r-w-x-r-w-x-r-w-x. That's it. One button, Analyze Security, and the assessment begins. Notice the safety principle stated right on screen: user commands are parsed locally and are never executed. That guarantee was a core design decision from day one.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soon as I click Analyze, this is what comes back. Three cards up top: a security score of 5 out of 100, Critical command risk, and Critical permission risk -- because chmod 777 combined with an already world-writable, world-executable file is about as bad as it gets. Below that, the security findings are written in plain language: 'world-writable, any local user can modify this item', 'world-executable, every user can execute or traverse this item', and then the fix -- chmod 750 for that directory or script. And at the bottom, you can literally see the agent's transparent reasoning trail -- Thought, Action, Observation, Action -- so the user isn't just told an answer, they can see how the assistant got there.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every assessment can be exported as a PDF with one click, using ReportLab. On the left you can see an actual generated report for that same chmod 777 example -- the security score, a command and permission summary table, the findings, recommended commands, and the full hardening checklist, all in one document. This was important for the academic context of this project: a student can attach this PDF directly to an assignment or lab submission as evidence of the analysis they performed.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validate the system, I designed seven test cases covering the scenarios that matter most for a beginner: a critical chmod command, a fully open permission string, a safe low-risk mode, a dangerous recursive delete, a risky remote script piped into a shell, a routine SSH connection, and deliberately malformed input to make sure the app fails gracefully instead of crashing. All seven passed. The key takeaway from testing wasn't just that the logic works -- it's that the application never once needed to execute a shell command to produce these results, which was the core safety requirement of the whole project.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transparent about where this stands today. In scope right now: a solid set of common commands, full symbolic and octal permission analysis, and the hardening checklist with PDF export. The honest limitations: it doesn't scan a live Linux host, it doesn't parse ACLs or SELinux policies, and the security score is educational rather than an enterprise-grade rating -- it reflects only what the user typed in. Looking ahead, I'd like to add an optional consent-based LLM layer for richer conversational answers, distribution-aware advice for Ubuntu, RHEL, and Kali, and a Docker-based safe lab mode so people can practice hardening a real sandboxed system without any risk.</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the biggest value of this project isn't automation, it's the pause it creates. Before a command runs, before a permission changes, the assistant gives the learner a moment to actually understand what they're about to do -- the purpose, the risk, and a safer alternative -- and it does that without ever touching the real system itself. That's the AI Linux Security Assistant. Thank you, and I'm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33"/>
        </a:solidFill>
        <a:effectLst/>
      </p:bgPr>
    </p:bg>
    <p:spTree>
      <p:nvGrpSpPr>
        <p:cNvPr id="1" name=""/>
        <p:cNvGrpSpPr/>
        <p:nvPr/>
      </p:nvGrpSpPr>
      <p:grpSpPr>
        <a:xfrm>
          <a:off x="0" y="0"/>
          <a:ext cx="0" cy="0"/>
          <a:chOff x="0" y="0"/>
          <a:chExt cx="0" cy="0"/>
        </a:xfrm>
      </p:grpSpPr>
      <p:sp>
        <p:nvSpPr>
          <p:cNvPr id="2" name="Shape 0"/>
          <p:cNvSpPr/>
          <p:nvPr/>
        </p:nvSpPr>
        <p:spPr>
          <a:xfrm>
            <a:off x="9966960" y="-1463040"/>
            <a:ext cx="4206240" cy="4206240"/>
          </a:xfrm>
          <a:prstGeom prst="ellipse">
            <a:avLst/>
          </a:prstGeom>
          <a:solidFill>
            <a:srgbClr val="17284A"/>
          </a:solidFill>
          <a:ln/>
        </p:spPr>
      </p:sp>
      <p:sp>
        <p:nvSpPr>
          <p:cNvPr id="3" name="Shape 1"/>
          <p:cNvSpPr/>
          <p:nvPr/>
        </p:nvSpPr>
        <p:spPr>
          <a:xfrm>
            <a:off x="10881360" y="-640080"/>
            <a:ext cx="2377440" cy="2377440"/>
          </a:xfrm>
          <a:prstGeom prst="ellipse">
            <a:avLst/>
          </a:prstGeom>
          <a:solidFill>
            <a:srgbClr val="17607D"/>
          </a:solidFill>
          <a:ln/>
        </p:spPr>
      </p:sp>
      <p:sp>
        <p:nvSpPr>
          <p:cNvPr id="4" name="Shape 2"/>
          <p:cNvSpPr/>
          <p:nvPr/>
        </p:nvSpPr>
        <p:spPr>
          <a:xfrm>
            <a:off x="-1463040" y="4937760"/>
            <a:ext cx="3291840" cy="3291840"/>
          </a:xfrm>
          <a:prstGeom prst="ellipse">
            <a:avLst/>
          </a:prstGeom>
          <a:solidFill>
            <a:srgbClr val="17284A"/>
          </a:solidFill>
          <a:ln/>
        </p:spPr>
      </p:sp>
      <p:sp>
        <p:nvSpPr>
          <p:cNvPr id="5" name="Text 3"/>
          <p:cNvSpPr/>
          <p:nvPr/>
        </p:nvSpPr>
        <p:spPr>
          <a:xfrm>
            <a:off x="822960" y="1417320"/>
            <a:ext cx="9144000" cy="365760"/>
          </a:xfrm>
          <a:prstGeom prst="rect">
            <a:avLst/>
          </a:prstGeom>
          <a:noFill/>
          <a:ln/>
        </p:spPr>
        <p:txBody>
          <a:bodyPr wrap="square" rtlCol="0" anchor="ctr"/>
          <a:lstStyle/>
          <a:p>
            <a:pPr marL="0" indent="0">
              <a:buNone/>
            </a:pPr>
            <a:r>
              <a:rPr lang="en-US" sz="1300" b="1" kern="0" spc="200" dirty="0">
                <a:solidFill>
                  <a:srgbClr val="27E1C1"/>
                </a:solidFill>
                <a:latin typeface="Calibri" pitchFamily="34" charset="0"/>
                <a:ea typeface="Calibri" pitchFamily="34" charset="-122"/>
                <a:cs typeface="Calibri" pitchFamily="34" charset="-120"/>
              </a:rPr>
              <a:t>STUDENT INTERNSHIP PROJECT  ·  AI &amp; CYBERSECURITY</a:t>
            </a:r>
            <a:endParaRPr lang="en-US" sz="1300" dirty="0"/>
          </a:p>
        </p:txBody>
      </p:sp>
      <p:sp>
        <p:nvSpPr>
          <p:cNvPr id="6" name="Text 4"/>
          <p:cNvSpPr/>
          <p:nvPr/>
        </p:nvSpPr>
        <p:spPr>
          <a:xfrm>
            <a:off x="777240" y="1874520"/>
            <a:ext cx="10424160" cy="1371600"/>
          </a:xfrm>
          <a:prstGeom prst="rect">
            <a:avLst/>
          </a:prstGeom>
          <a:noFill/>
          <a:ln/>
        </p:spPr>
        <p:txBody>
          <a:bodyPr wrap="square"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AI Linux Security Assistant</a:t>
            </a:r>
            <a:endParaRPr lang="en-US" sz="4600" dirty="0"/>
          </a:p>
        </p:txBody>
      </p:sp>
      <p:sp>
        <p:nvSpPr>
          <p:cNvPr id="7" name="Text 5"/>
          <p:cNvSpPr/>
          <p:nvPr/>
        </p:nvSpPr>
        <p:spPr>
          <a:xfrm>
            <a:off x="822960" y="3246120"/>
            <a:ext cx="9692640" cy="822960"/>
          </a:xfrm>
          <a:prstGeom prst="rect">
            <a:avLst/>
          </a:prstGeom>
          <a:noFill/>
          <a:ln/>
        </p:spPr>
        <p:txBody>
          <a:bodyPr wrap="square" rtlCol="0" anchor="ctr"/>
          <a:lstStyle/>
          <a:p>
            <a:pPr marL="0" indent="0">
              <a:lnSpc>
                <a:spcPct val="125000"/>
              </a:lnSpc>
              <a:buNone/>
            </a:pPr>
            <a:r>
              <a:rPr lang="en-US" sz="1500" dirty="0">
                <a:solidFill>
                  <a:srgbClr val="C7D2E8"/>
                </a:solidFill>
                <a:latin typeface="Calibri" pitchFamily="34" charset="0"/>
                <a:ea typeface="Calibri" pitchFamily="34" charset="-122"/>
                <a:cs typeface="Calibri" pitchFamily="34" charset="-120"/>
              </a:rPr>
              <a:t>An intelligent tutor that explains Linux commands, analyzes file permissions,</a:t>
            </a:r>
            <a:endParaRPr lang="en-US" sz="1500" dirty="0"/>
          </a:p>
          <a:p>
            <a:pPr marL="0" indent="0">
              <a:lnSpc>
                <a:spcPct val="125000"/>
              </a:lnSpc>
              <a:buNone/>
            </a:pPr>
            <a:r>
              <a:rPr lang="en-US" sz="1500" dirty="0">
                <a:solidFill>
                  <a:srgbClr val="C7D2E8"/>
                </a:solidFill>
                <a:latin typeface="Calibri" pitchFamily="34" charset="0"/>
                <a:ea typeface="Calibri" pitchFamily="34" charset="-122"/>
                <a:cs typeface="Calibri" pitchFamily="34" charset="-120"/>
              </a:rPr>
              <a:t>and recommends secure hardening practices — without ever executing user input.</a:t>
            </a:r>
            <a:endParaRPr lang="en-US" sz="1500" dirty="0"/>
          </a:p>
        </p:txBody>
      </p:sp>
      <p:sp>
        <p:nvSpPr>
          <p:cNvPr id="8" name="Shape 6"/>
          <p:cNvSpPr/>
          <p:nvPr/>
        </p:nvSpPr>
        <p:spPr>
          <a:xfrm>
            <a:off x="822960" y="4343400"/>
            <a:ext cx="2011680" cy="0"/>
          </a:xfrm>
          <a:prstGeom prst="line">
            <a:avLst/>
          </a:prstGeom>
          <a:noFill/>
          <a:ln w="31750">
            <a:solidFill>
              <a:srgbClr val="27E1C1"/>
            </a:solidFill>
            <a:prstDash val="solid"/>
          </a:ln>
        </p:spPr>
      </p:sp>
      <p:sp>
        <p:nvSpPr>
          <p:cNvPr id="9" name="Text 7"/>
          <p:cNvSpPr/>
          <p:nvPr/>
        </p:nvSpPr>
        <p:spPr>
          <a:xfrm>
            <a:off x="822960" y="4617720"/>
            <a:ext cx="4572000" cy="822960"/>
          </a:xfrm>
          <a:prstGeom prst="rect">
            <a:avLst/>
          </a:prstGeom>
          <a:noFill/>
          <a:ln/>
        </p:spPr>
        <p:txBody>
          <a:bodyPr wrap="square" rtlCol="0" anchor="ctr"/>
          <a:lstStyle/>
          <a:p>
            <a:pPr marL="0" indent="0">
              <a:lnSpc>
                <a:spcPts val="2000"/>
              </a:lnSpc>
              <a:buNone/>
            </a:pPr>
            <a:r>
              <a:rPr lang="en-US" sz="1500" b="1" dirty="0">
                <a:solidFill>
                  <a:srgbClr val="FFFFFF"/>
                </a:solidFill>
                <a:latin typeface="Calibri" pitchFamily="34" charset="0"/>
                <a:ea typeface="Calibri" pitchFamily="34" charset="-122"/>
                <a:cs typeface="Calibri" pitchFamily="34" charset="-120"/>
              </a:rPr>
              <a:t>Basaaria Imroz</a:t>
            </a:r>
            <a:endParaRPr lang="en-US" sz="1500" dirty="0"/>
          </a:p>
          <a:p>
            <a:pPr marL="0" indent="0">
              <a:lnSpc>
                <a:spcPts val="2000"/>
              </a:lnSpc>
              <a:buNone/>
            </a:pPr>
            <a:r>
              <a:rPr lang="en-US" sz="1250" dirty="0">
                <a:solidFill>
                  <a:srgbClr val="AEB9D4"/>
                </a:solidFill>
                <a:latin typeface="Calibri" pitchFamily="34" charset="0"/>
                <a:ea typeface="Calibri" pitchFamily="34" charset="-122"/>
                <a:cs typeface="Calibri" pitchFamily="34" charset="-120"/>
              </a:rPr>
              <a:t>B.E. CSE (AI &amp; ML) </a:t>
            </a:r>
            <a:endParaRPr lang="en-US" sz="1500" dirty="0"/>
          </a:p>
        </p:txBody>
      </p:sp>
      <p:sp>
        <p:nvSpPr>
          <p:cNvPr id="10" name="Text 8"/>
          <p:cNvSpPr/>
          <p:nvPr/>
        </p:nvSpPr>
        <p:spPr>
          <a:xfrm>
            <a:off x="6035040" y="4617720"/>
            <a:ext cx="5486400" cy="822960"/>
          </a:xfrm>
          <a:prstGeom prst="rect">
            <a:avLst/>
          </a:prstGeom>
          <a:noFill/>
          <a:ln/>
        </p:spPr>
        <p:txBody>
          <a:bodyPr wrap="square" rtlCol="0" anchor="ctr"/>
          <a:lstStyle/>
          <a:p>
            <a:pPr marL="0" indent="0">
              <a:lnSpc>
                <a:spcPts val="1800"/>
              </a:lnSpc>
              <a:buNone/>
            </a:pPr>
            <a:r>
              <a:rPr lang="en-US" sz="1300" b="1" dirty="0">
                <a:solidFill>
                  <a:srgbClr val="FFFFFF"/>
                </a:solidFill>
                <a:latin typeface="Calibri" pitchFamily="34" charset="0"/>
                <a:ea typeface="Calibri" pitchFamily="34" charset="-122"/>
                <a:cs typeface="Calibri" pitchFamily="34" charset="-120"/>
              </a:rPr>
              <a:t>AI &amp; Cybersecurity Internship</a:t>
            </a:r>
            <a:endParaRPr lang="en-US" sz="1300" dirty="0"/>
          </a:p>
          <a:p>
            <a:pPr marL="0" indent="0">
              <a:lnSpc>
                <a:spcPts val="1800"/>
              </a:lnSpc>
              <a:buNone/>
            </a:pPr>
            <a:r>
              <a:rPr lang="en-US" sz="1150" dirty="0">
                <a:solidFill>
                  <a:srgbClr val="AEB9D4"/>
                </a:solidFill>
                <a:latin typeface="Calibri" pitchFamily="34" charset="0"/>
                <a:ea typeface="Calibri" pitchFamily="34" charset="-122"/>
                <a:cs typeface="Calibri" pitchFamily="34" charset="-120"/>
              </a:rPr>
              <a:t>MRIIRS In collaboration with Ditto Security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50" b="1" kern="0" spc="200" dirty="0">
                <a:solidFill>
                  <a:srgbClr val="17607D"/>
                </a:solidFill>
                <a:latin typeface="Calibri" pitchFamily="34" charset="0"/>
                <a:ea typeface="Calibri" pitchFamily="34" charset="-122"/>
                <a:cs typeface="Calibri" pitchFamily="34" charset="-120"/>
              </a:rPr>
              <a:t>AGENDA</a:t>
            </a:r>
            <a:endParaRPr lang="en-US" sz="1250" dirty="0"/>
          </a:p>
        </p:txBody>
      </p:sp>
      <p:sp>
        <p:nvSpPr>
          <p:cNvPr id="3" name="Text 1"/>
          <p:cNvSpPr/>
          <p:nvPr/>
        </p:nvSpPr>
        <p:spPr>
          <a:xfrm>
            <a:off x="548640" y="685800"/>
            <a:ext cx="10789920" cy="731520"/>
          </a:xfrm>
          <a:prstGeom prst="rect">
            <a:avLst/>
          </a:prstGeom>
          <a:noFill/>
          <a:ln/>
        </p:spPr>
        <p:txBody>
          <a:bodyPr wrap="square" rtlCol="0" anchor="ctr"/>
          <a:lstStyle/>
          <a:p>
            <a:pPr marL="0" indent="0">
              <a:buNone/>
            </a:pPr>
            <a:r>
              <a:rPr lang="en-US" sz="3000" b="1" dirty="0">
                <a:solidFill>
                  <a:srgbClr val="16213A"/>
                </a:solidFill>
                <a:latin typeface="Cambria" pitchFamily="34" charset="0"/>
                <a:ea typeface="Cambria" pitchFamily="34" charset="-122"/>
                <a:cs typeface="Cambria" pitchFamily="34" charset="-120"/>
              </a:rPr>
              <a:t>What We'll Cover</a:t>
            </a:r>
            <a:endParaRPr lang="en-US" sz="3000" dirty="0"/>
          </a:p>
        </p:txBody>
      </p:sp>
      <p:sp>
        <p:nvSpPr>
          <p:cNvPr id="4" name="Shape 2"/>
          <p:cNvSpPr/>
          <p:nvPr/>
        </p:nvSpPr>
        <p:spPr>
          <a:xfrm>
            <a:off x="548640" y="1691640"/>
            <a:ext cx="5349240" cy="1188720"/>
          </a:xfrm>
          <a:prstGeom prst="roundRect">
            <a:avLst>
              <a:gd name="adj" fmla="val 6154"/>
            </a:avLst>
          </a:prstGeom>
          <a:solidFill>
            <a:srgbClr val="F3F6FA"/>
          </a:solidFill>
          <a:ln w="12700">
            <a:solidFill>
              <a:srgbClr val="E1E7F0"/>
            </a:solidFill>
            <a:prstDash val="solid"/>
          </a:ln>
        </p:spPr>
      </p:sp>
      <p:sp>
        <p:nvSpPr>
          <p:cNvPr id="5" name="Text 3"/>
          <p:cNvSpPr/>
          <p:nvPr/>
        </p:nvSpPr>
        <p:spPr>
          <a:xfrm>
            <a:off x="777240" y="1828800"/>
            <a:ext cx="914400" cy="640080"/>
          </a:xfrm>
          <a:prstGeom prst="rect">
            <a:avLst/>
          </a:prstGeom>
          <a:noFill/>
          <a:ln/>
        </p:spPr>
        <p:txBody>
          <a:bodyPr wrap="square" rtlCol="0" anchor="ctr"/>
          <a:lstStyle/>
          <a:p>
            <a:pPr marL="0" indent="0">
              <a:buNone/>
            </a:pPr>
            <a:r>
              <a:rPr lang="en-US" sz="2600" b="1" dirty="0">
                <a:solidFill>
                  <a:srgbClr val="17607D"/>
                </a:solidFill>
                <a:latin typeface="Cambria" pitchFamily="34" charset="0"/>
                <a:ea typeface="Cambria" pitchFamily="34" charset="-122"/>
                <a:cs typeface="Cambria" pitchFamily="34" charset="-120"/>
              </a:rPr>
              <a:t>01</a:t>
            </a:r>
            <a:endParaRPr lang="en-US" sz="2600" dirty="0"/>
          </a:p>
        </p:txBody>
      </p:sp>
      <p:sp>
        <p:nvSpPr>
          <p:cNvPr id="6" name="Text 4"/>
          <p:cNvSpPr/>
          <p:nvPr/>
        </p:nvSpPr>
        <p:spPr>
          <a:xfrm>
            <a:off x="1600200" y="1837944"/>
            <a:ext cx="4069080" cy="365760"/>
          </a:xfrm>
          <a:prstGeom prst="rect">
            <a:avLst/>
          </a:prstGeom>
          <a:noFill/>
          <a:ln/>
        </p:spPr>
        <p:txBody>
          <a:bodyPr wrap="square" rtlCol="0" anchor="ctr"/>
          <a:lstStyle/>
          <a:p>
            <a:pPr marL="0" indent="0">
              <a:buNone/>
            </a:pPr>
            <a:r>
              <a:rPr lang="en-US" sz="1450" b="1" dirty="0">
                <a:solidFill>
                  <a:srgbClr val="16213A"/>
                </a:solidFill>
                <a:latin typeface="Calibri" pitchFamily="34" charset="0"/>
                <a:ea typeface="Calibri" pitchFamily="34" charset="-122"/>
                <a:cs typeface="Calibri" pitchFamily="34" charset="-120"/>
              </a:rPr>
              <a:t>Problem Statement</a:t>
            </a:r>
            <a:endParaRPr lang="en-US" sz="1450" dirty="0"/>
          </a:p>
        </p:txBody>
      </p:sp>
      <p:sp>
        <p:nvSpPr>
          <p:cNvPr id="7" name="Text 5"/>
          <p:cNvSpPr/>
          <p:nvPr/>
        </p:nvSpPr>
        <p:spPr>
          <a:xfrm>
            <a:off x="1600200" y="2194560"/>
            <a:ext cx="4069080" cy="548640"/>
          </a:xfrm>
          <a:prstGeom prst="rect">
            <a:avLst/>
          </a:prstGeom>
          <a:noFill/>
          <a:ln/>
        </p:spPr>
        <p:txBody>
          <a:bodyPr wrap="square" rtlCol="0" anchor="ctr"/>
          <a:lstStyle/>
          <a:p>
            <a:pPr marL="0" indent="0">
              <a:lnSpc>
                <a:spcPct val="115000"/>
              </a:lnSpc>
              <a:buNone/>
            </a:pPr>
            <a:r>
              <a:rPr lang="en-US" sz="1050" dirty="0">
                <a:solidFill>
                  <a:srgbClr val="5B6B85"/>
                </a:solidFill>
                <a:latin typeface="Calibri" pitchFamily="34" charset="0"/>
                <a:ea typeface="Calibri" pitchFamily="34" charset="-122"/>
                <a:cs typeface="Calibri" pitchFamily="34" charset="-120"/>
              </a:rPr>
              <a:t>Why beginners struggle with Linux command &amp; permission risk</a:t>
            </a:r>
            <a:endParaRPr lang="en-US" sz="1050" dirty="0"/>
          </a:p>
        </p:txBody>
      </p:sp>
      <p:sp>
        <p:nvSpPr>
          <p:cNvPr id="8" name="Shape 6"/>
          <p:cNvSpPr/>
          <p:nvPr/>
        </p:nvSpPr>
        <p:spPr>
          <a:xfrm>
            <a:off x="6217920" y="1691640"/>
            <a:ext cx="5349240" cy="1188720"/>
          </a:xfrm>
          <a:prstGeom prst="roundRect">
            <a:avLst>
              <a:gd name="adj" fmla="val 6154"/>
            </a:avLst>
          </a:prstGeom>
          <a:solidFill>
            <a:srgbClr val="F3F6FA"/>
          </a:solidFill>
          <a:ln w="12700">
            <a:solidFill>
              <a:srgbClr val="E1E7F0"/>
            </a:solidFill>
            <a:prstDash val="solid"/>
          </a:ln>
        </p:spPr>
      </p:sp>
      <p:sp>
        <p:nvSpPr>
          <p:cNvPr id="9" name="Text 7"/>
          <p:cNvSpPr/>
          <p:nvPr/>
        </p:nvSpPr>
        <p:spPr>
          <a:xfrm>
            <a:off x="6446520" y="1828800"/>
            <a:ext cx="914400" cy="640080"/>
          </a:xfrm>
          <a:prstGeom prst="rect">
            <a:avLst/>
          </a:prstGeom>
          <a:noFill/>
          <a:ln/>
        </p:spPr>
        <p:txBody>
          <a:bodyPr wrap="square" rtlCol="0" anchor="ctr"/>
          <a:lstStyle/>
          <a:p>
            <a:pPr marL="0" indent="0">
              <a:buNone/>
            </a:pPr>
            <a:r>
              <a:rPr lang="en-US" sz="2600" b="1" dirty="0">
                <a:solidFill>
                  <a:srgbClr val="17607D"/>
                </a:solidFill>
                <a:latin typeface="Cambria" pitchFamily="34" charset="0"/>
                <a:ea typeface="Cambria" pitchFamily="34" charset="-122"/>
                <a:cs typeface="Cambria" pitchFamily="34" charset="-120"/>
              </a:rPr>
              <a:t>02</a:t>
            </a:r>
            <a:endParaRPr lang="en-US" sz="2600" dirty="0"/>
          </a:p>
        </p:txBody>
      </p:sp>
      <p:sp>
        <p:nvSpPr>
          <p:cNvPr id="10" name="Text 8"/>
          <p:cNvSpPr/>
          <p:nvPr/>
        </p:nvSpPr>
        <p:spPr>
          <a:xfrm>
            <a:off x="7269480" y="1837944"/>
            <a:ext cx="4069080" cy="365760"/>
          </a:xfrm>
          <a:prstGeom prst="rect">
            <a:avLst/>
          </a:prstGeom>
          <a:noFill/>
          <a:ln/>
        </p:spPr>
        <p:txBody>
          <a:bodyPr wrap="square" rtlCol="0" anchor="ctr"/>
          <a:lstStyle/>
          <a:p>
            <a:pPr marL="0" indent="0">
              <a:buNone/>
            </a:pPr>
            <a:r>
              <a:rPr lang="en-US" sz="1450" b="1" dirty="0">
                <a:solidFill>
                  <a:srgbClr val="16213A"/>
                </a:solidFill>
                <a:latin typeface="Calibri" pitchFamily="34" charset="0"/>
                <a:ea typeface="Calibri" pitchFamily="34" charset="-122"/>
                <a:cs typeface="Calibri" pitchFamily="34" charset="-120"/>
              </a:rPr>
              <a:t>Existing vs. Proposed</a:t>
            </a:r>
            <a:endParaRPr lang="en-US" sz="1450" dirty="0"/>
          </a:p>
        </p:txBody>
      </p:sp>
      <p:sp>
        <p:nvSpPr>
          <p:cNvPr id="11" name="Text 9"/>
          <p:cNvSpPr/>
          <p:nvPr/>
        </p:nvSpPr>
        <p:spPr>
          <a:xfrm>
            <a:off x="7269480" y="2194560"/>
            <a:ext cx="4069080" cy="548640"/>
          </a:xfrm>
          <a:prstGeom prst="rect">
            <a:avLst/>
          </a:prstGeom>
          <a:noFill/>
          <a:ln/>
        </p:spPr>
        <p:txBody>
          <a:bodyPr wrap="square" rtlCol="0" anchor="ctr"/>
          <a:lstStyle/>
          <a:p>
            <a:pPr marL="0" indent="0">
              <a:lnSpc>
                <a:spcPct val="115000"/>
              </a:lnSpc>
              <a:buNone/>
            </a:pPr>
            <a:r>
              <a:rPr lang="en-US" sz="1050" dirty="0">
                <a:solidFill>
                  <a:srgbClr val="5B6B85"/>
                </a:solidFill>
                <a:latin typeface="Calibri" pitchFamily="34" charset="0"/>
                <a:ea typeface="Calibri" pitchFamily="34" charset="-122"/>
                <a:cs typeface="Calibri" pitchFamily="34" charset="-120"/>
              </a:rPr>
              <a:t>Manual guesswork vs. a structured AI-assisted workflow</a:t>
            </a:r>
            <a:endParaRPr lang="en-US" sz="1050" dirty="0"/>
          </a:p>
        </p:txBody>
      </p:sp>
      <p:sp>
        <p:nvSpPr>
          <p:cNvPr id="12" name="Shape 10"/>
          <p:cNvSpPr/>
          <p:nvPr/>
        </p:nvSpPr>
        <p:spPr>
          <a:xfrm>
            <a:off x="548640" y="3108960"/>
            <a:ext cx="5349240" cy="1188720"/>
          </a:xfrm>
          <a:prstGeom prst="roundRect">
            <a:avLst>
              <a:gd name="adj" fmla="val 6154"/>
            </a:avLst>
          </a:prstGeom>
          <a:solidFill>
            <a:srgbClr val="F3F6FA"/>
          </a:solidFill>
          <a:ln w="12700">
            <a:solidFill>
              <a:srgbClr val="E1E7F0"/>
            </a:solidFill>
            <a:prstDash val="solid"/>
          </a:ln>
        </p:spPr>
      </p:sp>
      <p:sp>
        <p:nvSpPr>
          <p:cNvPr id="13" name="Text 11"/>
          <p:cNvSpPr/>
          <p:nvPr/>
        </p:nvSpPr>
        <p:spPr>
          <a:xfrm>
            <a:off x="777240" y="3246120"/>
            <a:ext cx="914400" cy="640080"/>
          </a:xfrm>
          <a:prstGeom prst="rect">
            <a:avLst/>
          </a:prstGeom>
          <a:noFill/>
          <a:ln/>
        </p:spPr>
        <p:txBody>
          <a:bodyPr wrap="square" rtlCol="0" anchor="ctr"/>
          <a:lstStyle/>
          <a:p>
            <a:pPr marL="0" indent="0">
              <a:buNone/>
            </a:pPr>
            <a:r>
              <a:rPr lang="en-US" sz="2600" b="1" dirty="0">
                <a:solidFill>
                  <a:srgbClr val="17607D"/>
                </a:solidFill>
                <a:latin typeface="Cambria" pitchFamily="34" charset="0"/>
                <a:ea typeface="Cambria" pitchFamily="34" charset="-122"/>
                <a:cs typeface="Cambria" pitchFamily="34" charset="-120"/>
              </a:rPr>
              <a:t>03</a:t>
            </a:r>
            <a:endParaRPr lang="en-US" sz="2600" dirty="0"/>
          </a:p>
        </p:txBody>
      </p:sp>
      <p:sp>
        <p:nvSpPr>
          <p:cNvPr id="14" name="Text 12"/>
          <p:cNvSpPr/>
          <p:nvPr/>
        </p:nvSpPr>
        <p:spPr>
          <a:xfrm>
            <a:off x="1600200" y="3255264"/>
            <a:ext cx="4069080" cy="365760"/>
          </a:xfrm>
          <a:prstGeom prst="rect">
            <a:avLst/>
          </a:prstGeom>
          <a:noFill/>
          <a:ln/>
        </p:spPr>
        <p:txBody>
          <a:bodyPr wrap="square" rtlCol="0" anchor="ctr"/>
          <a:lstStyle/>
          <a:p>
            <a:pPr marL="0" indent="0">
              <a:buNone/>
            </a:pPr>
            <a:r>
              <a:rPr lang="en-US" sz="1450" b="1" dirty="0">
                <a:solidFill>
                  <a:srgbClr val="16213A"/>
                </a:solidFill>
                <a:latin typeface="Calibri" pitchFamily="34" charset="0"/>
                <a:ea typeface="Calibri" pitchFamily="34" charset="-122"/>
                <a:cs typeface="Calibri" pitchFamily="34" charset="-120"/>
              </a:rPr>
              <a:t>System Architecture</a:t>
            </a:r>
            <a:endParaRPr lang="en-US" sz="1450" dirty="0"/>
          </a:p>
        </p:txBody>
      </p:sp>
      <p:sp>
        <p:nvSpPr>
          <p:cNvPr id="15" name="Text 13"/>
          <p:cNvSpPr/>
          <p:nvPr/>
        </p:nvSpPr>
        <p:spPr>
          <a:xfrm>
            <a:off x="1600200" y="3611880"/>
            <a:ext cx="4069080" cy="548640"/>
          </a:xfrm>
          <a:prstGeom prst="rect">
            <a:avLst/>
          </a:prstGeom>
          <a:noFill/>
          <a:ln/>
        </p:spPr>
        <p:txBody>
          <a:bodyPr wrap="square" rtlCol="0" anchor="ctr"/>
          <a:lstStyle/>
          <a:p>
            <a:pPr marL="0" indent="0">
              <a:lnSpc>
                <a:spcPct val="115000"/>
              </a:lnSpc>
              <a:buNone/>
            </a:pPr>
            <a:r>
              <a:rPr lang="en-US" sz="1050" dirty="0">
                <a:solidFill>
                  <a:srgbClr val="5B6B85"/>
                </a:solidFill>
                <a:latin typeface="Calibri" pitchFamily="34" charset="0"/>
                <a:ea typeface="Calibri" pitchFamily="34" charset="-122"/>
                <a:cs typeface="Calibri" pitchFamily="34" charset="-120"/>
              </a:rPr>
              <a:t>How the modules connect using a ReAct-style pipeline</a:t>
            </a:r>
            <a:endParaRPr lang="en-US" sz="1050" dirty="0"/>
          </a:p>
        </p:txBody>
      </p:sp>
      <p:sp>
        <p:nvSpPr>
          <p:cNvPr id="16" name="Shape 14"/>
          <p:cNvSpPr/>
          <p:nvPr/>
        </p:nvSpPr>
        <p:spPr>
          <a:xfrm>
            <a:off x="6217920" y="3108960"/>
            <a:ext cx="5349240" cy="1188720"/>
          </a:xfrm>
          <a:prstGeom prst="roundRect">
            <a:avLst>
              <a:gd name="adj" fmla="val 6154"/>
            </a:avLst>
          </a:prstGeom>
          <a:solidFill>
            <a:srgbClr val="F3F6FA"/>
          </a:solidFill>
          <a:ln w="12700">
            <a:solidFill>
              <a:srgbClr val="E1E7F0"/>
            </a:solidFill>
            <a:prstDash val="solid"/>
          </a:ln>
        </p:spPr>
      </p:sp>
      <p:sp>
        <p:nvSpPr>
          <p:cNvPr id="17" name="Text 15"/>
          <p:cNvSpPr/>
          <p:nvPr/>
        </p:nvSpPr>
        <p:spPr>
          <a:xfrm>
            <a:off x="6446520" y="3246120"/>
            <a:ext cx="914400" cy="640080"/>
          </a:xfrm>
          <a:prstGeom prst="rect">
            <a:avLst/>
          </a:prstGeom>
          <a:noFill/>
          <a:ln/>
        </p:spPr>
        <p:txBody>
          <a:bodyPr wrap="square" rtlCol="0" anchor="ctr"/>
          <a:lstStyle/>
          <a:p>
            <a:pPr marL="0" indent="0">
              <a:buNone/>
            </a:pPr>
            <a:r>
              <a:rPr lang="en-US" sz="2600" b="1" dirty="0">
                <a:solidFill>
                  <a:srgbClr val="17607D"/>
                </a:solidFill>
                <a:latin typeface="Cambria" pitchFamily="34" charset="0"/>
                <a:ea typeface="Cambria" pitchFamily="34" charset="-122"/>
                <a:cs typeface="Cambria" pitchFamily="34" charset="-120"/>
              </a:rPr>
              <a:t>04</a:t>
            </a:r>
            <a:endParaRPr lang="en-US" sz="2600" dirty="0"/>
          </a:p>
        </p:txBody>
      </p:sp>
      <p:sp>
        <p:nvSpPr>
          <p:cNvPr id="18" name="Text 16"/>
          <p:cNvSpPr/>
          <p:nvPr/>
        </p:nvSpPr>
        <p:spPr>
          <a:xfrm>
            <a:off x="7269480" y="3255264"/>
            <a:ext cx="4069080" cy="365760"/>
          </a:xfrm>
          <a:prstGeom prst="rect">
            <a:avLst/>
          </a:prstGeom>
          <a:noFill/>
          <a:ln/>
        </p:spPr>
        <p:txBody>
          <a:bodyPr wrap="square" rtlCol="0" anchor="ctr"/>
          <a:lstStyle/>
          <a:p>
            <a:pPr marL="0" indent="0">
              <a:buNone/>
            </a:pPr>
            <a:r>
              <a:rPr lang="en-US" sz="1450" b="1" dirty="0">
                <a:solidFill>
                  <a:srgbClr val="16213A"/>
                </a:solidFill>
                <a:latin typeface="Calibri" pitchFamily="34" charset="0"/>
                <a:ea typeface="Calibri" pitchFamily="34" charset="-122"/>
                <a:cs typeface="Calibri" pitchFamily="34" charset="-120"/>
              </a:rPr>
              <a:t>Live Feature Walkthrough</a:t>
            </a:r>
            <a:endParaRPr lang="en-US" sz="1450" dirty="0"/>
          </a:p>
        </p:txBody>
      </p:sp>
      <p:sp>
        <p:nvSpPr>
          <p:cNvPr id="19" name="Text 17"/>
          <p:cNvSpPr/>
          <p:nvPr/>
        </p:nvSpPr>
        <p:spPr>
          <a:xfrm>
            <a:off x="7269480" y="3611880"/>
            <a:ext cx="4069080" cy="548640"/>
          </a:xfrm>
          <a:prstGeom prst="rect">
            <a:avLst/>
          </a:prstGeom>
          <a:noFill/>
          <a:ln/>
        </p:spPr>
        <p:txBody>
          <a:bodyPr wrap="square" rtlCol="0" anchor="ctr"/>
          <a:lstStyle/>
          <a:p>
            <a:pPr marL="0" indent="0">
              <a:lnSpc>
                <a:spcPct val="115000"/>
              </a:lnSpc>
              <a:buNone/>
            </a:pPr>
            <a:r>
              <a:rPr lang="en-US" sz="1050" dirty="0">
                <a:solidFill>
                  <a:srgbClr val="5B6B85"/>
                </a:solidFill>
                <a:latin typeface="Calibri" pitchFamily="34" charset="0"/>
                <a:ea typeface="Calibri" pitchFamily="34" charset="-122"/>
                <a:cs typeface="Calibri" pitchFamily="34" charset="-120"/>
              </a:rPr>
              <a:t>Command explainer, permission analyzer, hardening &amp; reports</a:t>
            </a:r>
            <a:endParaRPr lang="en-US" sz="1050" dirty="0"/>
          </a:p>
        </p:txBody>
      </p:sp>
      <p:sp>
        <p:nvSpPr>
          <p:cNvPr id="20" name="Shape 18"/>
          <p:cNvSpPr/>
          <p:nvPr/>
        </p:nvSpPr>
        <p:spPr>
          <a:xfrm>
            <a:off x="548640" y="4526280"/>
            <a:ext cx="5349240" cy="1188720"/>
          </a:xfrm>
          <a:prstGeom prst="roundRect">
            <a:avLst>
              <a:gd name="adj" fmla="val 6154"/>
            </a:avLst>
          </a:prstGeom>
          <a:solidFill>
            <a:srgbClr val="F3F6FA"/>
          </a:solidFill>
          <a:ln w="12700">
            <a:solidFill>
              <a:srgbClr val="E1E7F0"/>
            </a:solidFill>
            <a:prstDash val="solid"/>
          </a:ln>
        </p:spPr>
      </p:sp>
      <p:sp>
        <p:nvSpPr>
          <p:cNvPr id="21" name="Text 19"/>
          <p:cNvSpPr/>
          <p:nvPr/>
        </p:nvSpPr>
        <p:spPr>
          <a:xfrm>
            <a:off x="777240" y="4663440"/>
            <a:ext cx="914400" cy="640080"/>
          </a:xfrm>
          <a:prstGeom prst="rect">
            <a:avLst/>
          </a:prstGeom>
          <a:noFill/>
          <a:ln/>
        </p:spPr>
        <p:txBody>
          <a:bodyPr wrap="square" rtlCol="0" anchor="ctr"/>
          <a:lstStyle/>
          <a:p>
            <a:pPr marL="0" indent="0">
              <a:buNone/>
            </a:pPr>
            <a:r>
              <a:rPr lang="en-US" sz="2600" b="1" dirty="0">
                <a:solidFill>
                  <a:srgbClr val="17607D"/>
                </a:solidFill>
                <a:latin typeface="Cambria" pitchFamily="34" charset="0"/>
                <a:ea typeface="Cambria" pitchFamily="34" charset="-122"/>
                <a:cs typeface="Cambria" pitchFamily="34" charset="-120"/>
              </a:rPr>
              <a:t>05</a:t>
            </a:r>
            <a:endParaRPr lang="en-US" sz="2600" dirty="0"/>
          </a:p>
        </p:txBody>
      </p:sp>
      <p:sp>
        <p:nvSpPr>
          <p:cNvPr id="22" name="Text 20"/>
          <p:cNvSpPr/>
          <p:nvPr/>
        </p:nvSpPr>
        <p:spPr>
          <a:xfrm>
            <a:off x="1600200" y="4672584"/>
            <a:ext cx="4069080" cy="365760"/>
          </a:xfrm>
          <a:prstGeom prst="rect">
            <a:avLst/>
          </a:prstGeom>
          <a:noFill/>
          <a:ln/>
        </p:spPr>
        <p:txBody>
          <a:bodyPr wrap="square" rtlCol="0" anchor="ctr"/>
          <a:lstStyle/>
          <a:p>
            <a:pPr marL="0" indent="0">
              <a:buNone/>
            </a:pPr>
            <a:r>
              <a:rPr lang="en-US" sz="1450" b="1" dirty="0">
                <a:solidFill>
                  <a:srgbClr val="16213A"/>
                </a:solidFill>
                <a:latin typeface="Calibri" pitchFamily="34" charset="0"/>
                <a:ea typeface="Calibri" pitchFamily="34" charset="-122"/>
                <a:cs typeface="Calibri" pitchFamily="34" charset="-120"/>
              </a:rPr>
              <a:t>Testing &amp; Results</a:t>
            </a:r>
            <a:endParaRPr lang="en-US" sz="1450" dirty="0"/>
          </a:p>
        </p:txBody>
      </p:sp>
      <p:sp>
        <p:nvSpPr>
          <p:cNvPr id="23" name="Text 21"/>
          <p:cNvSpPr/>
          <p:nvPr/>
        </p:nvSpPr>
        <p:spPr>
          <a:xfrm>
            <a:off x="1600200" y="5029200"/>
            <a:ext cx="4069080" cy="548640"/>
          </a:xfrm>
          <a:prstGeom prst="rect">
            <a:avLst/>
          </a:prstGeom>
          <a:noFill/>
          <a:ln/>
        </p:spPr>
        <p:txBody>
          <a:bodyPr wrap="square" rtlCol="0" anchor="ctr"/>
          <a:lstStyle/>
          <a:p>
            <a:pPr marL="0" indent="0">
              <a:lnSpc>
                <a:spcPct val="115000"/>
              </a:lnSpc>
              <a:buNone/>
            </a:pPr>
            <a:r>
              <a:rPr lang="en-US" sz="1050" dirty="0">
                <a:solidFill>
                  <a:srgbClr val="5B6B85"/>
                </a:solidFill>
                <a:latin typeface="Calibri" pitchFamily="34" charset="0"/>
                <a:ea typeface="Calibri" pitchFamily="34" charset="-122"/>
                <a:cs typeface="Calibri" pitchFamily="34" charset="-120"/>
              </a:rPr>
              <a:t>Verified test cases across command and permission scenarios</a:t>
            </a:r>
            <a:endParaRPr lang="en-US" sz="1050" dirty="0"/>
          </a:p>
        </p:txBody>
      </p:sp>
      <p:sp>
        <p:nvSpPr>
          <p:cNvPr id="24" name="Shape 22"/>
          <p:cNvSpPr/>
          <p:nvPr/>
        </p:nvSpPr>
        <p:spPr>
          <a:xfrm>
            <a:off x="6217920" y="4526280"/>
            <a:ext cx="5349240" cy="1188720"/>
          </a:xfrm>
          <a:prstGeom prst="roundRect">
            <a:avLst>
              <a:gd name="adj" fmla="val 6154"/>
            </a:avLst>
          </a:prstGeom>
          <a:solidFill>
            <a:srgbClr val="F3F6FA"/>
          </a:solidFill>
          <a:ln w="12700">
            <a:solidFill>
              <a:srgbClr val="E1E7F0"/>
            </a:solidFill>
            <a:prstDash val="solid"/>
          </a:ln>
        </p:spPr>
      </p:sp>
      <p:sp>
        <p:nvSpPr>
          <p:cNvPr id="25" name="Text 23"/>
          <p:cNvSpPr/>
          <p:nvPr/>
        </p:nvSpPr>
        <p:spPr>
          <a:xfrm>
            <a:off x="6446520" y="4663440"/>
            <a:ext cx="914400" cy="640080"/>
          </a:xfrm>
          <a:prstGeom prst="rect">
            <a:avLst/>
          </a:prstGeom>
          <a:noFill/>
          <a:ln/>
        </p:spPr>
        <p:txBody>
          <a:bodyPr wrap="square" rtlCol="0" anchor="ctr"/>
          <a:lstStyle/>
          <a:p>
            <a:pPr marL="0" indent="0">
              <a:buNone/>
            </a:pPr>
            <a:r>
              <a:rPr lang="en-US" sz="2600" b="1" dirty="0">
                <a:solidFill>
                  <a:srgbClr val="17607D"/>
                </a:solidFill>
                <a:latin typeface="Cambria" pitchFamily="34" charset="0"/>
                <a:ea typeface="Cambria" pitchFamily="34" charset="-122"/>
                <a:cs typeface="Cambria" pitchFamily="34" charset="-120"/>
              </a:rPr>
              <a:t>06</a:t>
            </a:r>
            <a:endParaRPr lang="en-US" sz="2600" dirty="0"/>
          </a:p>
        </p:txBody>
      </p:sp>
      <p:sp>
        <p:nvSpPr>
          <p:cNvPr id="26" name="Text 24"/>
          <p:cNvSpPr/>
          <p:nvPr/>
        </p:nvSpPr>
        <p:spPr>
          <a:xfrm>
            <a:off x="7269480" y="4672584"/>
            <a:ext cx="4069080" cy="365760"/>
          </a:xfrm>
          <a:prstGeom prst="rect">
            <a:avLst/>
          </a:prstGeom>
          <a:noFill/>
          <a:ln/>
        </p:spPr>
        <p:txBody>
          <a:bodyPr wrap="square" rtlCol="0" anchor="ctr"/>
          <a:lstStyle/>
          <a:p>
            <a:pPr marL="0" indent="0">
              <a:buNone/>
            </a:pPr>
            <a:r>
              <a:rPr lang="en-US" sz="1450" b="1" dirty="0">
                <a:solidFill>
                  <a:srgbClr val="16213A"/>
                </a:solidFill>
                <a:latin typeface="Calibri" pitchFamily="34" charset="0"/>
                <a:ea typeface="Calibri" pitchFamily="34" charset="-122"/>
                <a:cs typeface="Calibri" pitchFamily="34" charset="-120"/>
              </a:rPr>
              <a:t>Scope, Limitations &amp; Future Work</a:t>
            </a:r>
            <a:endParaRPr lang="en-US" sz="1450" dirty="0"/>
          </a:p>
        </p:txBody>
      </p:sp>
      <p:sp>
        <p:nvSpPr>
          <p:cNvPr id="27" name="Text 25"/>
          <p:cNvSpPr/>
          <p:nvPr/>
        </p:nvSpPr>
        <p:spPr>
          <a:xfrm>
            <a:off x="7269480" y="5029200"/>
            <a:ext cx="4069080" cy="548640"/>
          </a:xfrm>
          <a:prstGeom prst="rect">
            <a:avLst/>
          </a:prstGeom>
          <a:noFill/>
          <a:ln/>
        </p:spPr>
        <p:txBody>
          <a:bodyPr wrap="square" rtlCol="0" anchor="ctr"/>
          <a:lstStyle/>
          <a:p>
            <a:pPr marL="0" indent="0">
              <a:lnSpc>
                <a:spcPct val="115000"/>
              </a:lnSpc>
              <a:buNone/>
            </a:pPr>
            <a:r>
              <a:rPr lang="en-US" sz="1050" dirty="0">
                <a:solidFill>
                  <a:srgbClr val="5B6B85"/>
                </a:solidFill>
                <a:latin typeface="Calibri" pitchFamily="34" charset="0"/>
                <a:ea typeface="Calibri" pitchFamily="34" charset="-122"/>
                <a:cs typeface="Calibri" pitchFamily="34" charset="-120"/>
              </a:rPr>
              <a:t>What's next for the assistant</a:t>
            </a:r>
            <a:endParaRPr lang="en-US" sz="1050" dirty="0"/>
          </a:p>
        </p:txBody>
      </p:sp>
      <p:sp>
        <p:nvSpPr>
          <p:cNvPr id="28" name="Text 26"/>
          <p:cNvSpPr/>
          <p:nvPr/>
        </p:nvSpPr>
        <p:spPr>
          <a:xfrm>
            <a:off x="457200" y="6510528"/>
            <a:ext cx="7315200" cy="274320"/>
          </a:xfrm>
          <a:prstGeom prst="rect">
            <a:avLst/>
          </a:prstGeom>
          <a:noFill/>
          <a:ln/>
        </p:spPr>
        <p:txBody>
          <a:bodyPr wrap="square" rtlCol="0" anchor="ctr"/>
          <a:lstStyle/>
          <a:p>
            <a:pPr marL="0" indent="0" algn="l">
              <a:buNone/>
            </a:pPr>
            <a:r>
              <a:rPr lang="en-US" sz="900" dirty="0">
                <a:solidFill>
                  <a:srgbClr val="5B6B85"/>
                </a:solidFill>
                <a:latin typeface="Calibri" pitchFamily="34" charset="0"/>
                <a:ea typeface="Calibri" pitchFamily="34" charset="-122"/>
                <a:cs typeface="Calibri" pitchFamily="34" charset="-120"/>
              </a:rPr>
              <a:t>AI Linux Security Assistant</a:t>
            </a:r>
            <a:endParaRPr lang="en-US" sz="900" dirty="0"/>
          </a:p>
        </p:txBody>
      </p:sp>
      <p:sp>
        <p:nvSpPr>
          <p:cNvPr id="29" name="Text 27"/>
          <p:cNvSpPr/>
          <p:nvPr/>
        </p:nvSpPr>
        <p:spPr>
          <a:xfrm>
            <a:off x="11247120" y="6510528"/>
            <a:ext cx="457200" cy="274320"/>
          </a:xfrm>
          <a:prstGeom prst="rect">
            <a:avLst/>
          </a:prstGeom>
          <a:noFill/>
          <a:ln/>
        </p:spPr>
        <p:txBody>
          <a:bodyPr wrap="square" rtlCol="0" anchor="ctr"/>
          <a:lstStyle/>
          <a:p>
            <a:pPr marL="0" indent="0" algn="r">
              <a:buNone/>
            </a:pPr>
            <a:r>
              <a:rPr lang="en-US" sz="900" dirty="0">
                <a:solidFill>
                  <a:srgbClr val="5B6B85"/>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50" b="1" kern="0" spc="200" dirty="0">
                <a:solidFill>
                  <a:srgbClr val="17607D"/>
                </a:solidFill>
                <a:latin typeface="Calibri" pitchFamily="34" charset="0"/>
                <a:ea typeface="Calibri" pitchFamily="34" charset="-122"/>
                <a:cs typeface="Calibri" pitchFamily="34" charset="-120"/>
              </a:rPr>
              <a:t>THE PROBLEM</a:t>
            </a:r>
            <a:endParaRPr lang="en-US" sz="1250" dirty="0"/>
          </a:p>
        </p:txBody>
      </p:sp>
      <p:sp>
        <p:nvSpPr>
          <p:cNvPr id="3" name="Text 1"/>
          <p:cNvSpPr/>
          <p:nvPr/>
        </p:nvSpPr>
        <p:spPr>
          <a:xfrm>
            <a:off x="548640" y="685800"/>
            <a:ext cx="10789920" cy="731520"/>
          </a:xfrm>
          <a:prstGeom prst="rect">
            <a:avLst/>
          </a:prstGeom>
          <a:noFill/>
          <a:ln/>
        </p:spPr>
        <p:txBody>
          <a:bodyPr wrap="square" rtlCol="0" anchor="ctr"/>
          <a:lstStyle/>
          <a:p>
            <a:pPr marL="0" indent="0">
              <a:buNone/>
            </a:pPr>
            <a:r>
              <a:rPr lang="en-US" sz="3000" b="1" dirty="0">
                <a:solidFill>
                  <a:srgbClr val="16213A"/>
                </a:solidFill>
                <a:latin typeface="Cambria" pitchFamily="34" charset="0"/>
                <a:ea typeface="Cambria" pitchFamily="34" charset="-122"/>
                <a:cs typeface="Cambria" pitchFamily="34" charset="-120"/>
              </a:rPr>
              <a:t>One Risky Command Is All It Takes</a:t>
            </a:r>
            <a:endParaRPr lang="en-US" sz="3000" dirty="0"/>
          </a:p>
        </p:txBody>
      </p:sp>
      <p:sp>
        <p:nvSpPr>
          <p:cNvPr id="4" name="Text 2"/>
          <p:cNvSpPr/>
          <p:nvPr/>
        </p:nvSpPr>
        <p:spPr>
          <a:xfrm>
            <a:off x="548640" y="1600200"/>
            <a:ext cx="5943600" cy="1828800"/>
          </a:xfrm>
          <a:prstGeom prst="rect">
            <a:avLst/>
          </a:prstGeom>
          <a:noFill/>
          <a:ln/>
        </p:spPr>
        <p:txBody>
          <a:bodyPr wrap="square" rtlCol="0" anchor="ctr"/>
          <a:lstStyle/>
          <a:p>
            <a:pPr marL="0" indent="0">
              <a:lnSpc>
                <a:spcPct val="135000"/>
              </a:lnSpc>
              <a:buNone/>
            </a:pPr>
            <a:r>
              <a:rPr lang="en-US" sz="1450" dirty="0">
                <a:solidFill>
                  <a:srgbClr val="16213A"/>
                </a:solidFill>
                <a:latin typeface="Calibri" pitchFamily="34" charset="0"/>
                <a:ea typeface="Calibri" pitchFamily="34" charset="-122"/>
                <a:cs typeface="Calibri" pitchFamily="34" charset="-120"/>
              </a:rPr>
              <a:t>Students learning Linux often copy commands from search results or tutorials and run them without understanding the consequences. A command that looks like it “fixes” an access error can silently expose files, delete data, or grant every local user full control.</a:t>
            </a:r>
            <a:endParaRPr lang="en-US" sz="1450" dirty="0"/>
          </a:p>
        </p:txBody>
      </p:sp>
      <p:sp>
        <p:nvSpPr>
          <p:cNvPr id="5" name="Shape 3"/>
          <p:cNvSpPr/>
          <p:nvPr/>
        </p:nvSpPr>
        <p:spPr>
          <a:xfrm>
            <a:off x="548640" y="3611880"/>
            <a:ext cx="292608" cy="292608"/>
          </a:xfrm>
          <a:prstGeom prst="ellipse">
            <a:avLst/>
          </a:prstGeom>
          <a:solidFill>
            <a:srgbClr val="17607D"/>
          </a:solidFill>
          <a:ln/>
        </p:spPr>
      </p:sp>
      <p:sp>
        <p:nvSpPr>
          <p:cNvPr id="6" name="Text 4"/>
          <p:cNvSpPr/>
          <p:nvPr/>
        </p:nvSpPr>
        <p:spPr>
          <a:xfrm>
            <a:off x="548640" y="3611880"/>
            <a:ext cx="292608" cy="292608"/>
          </a:xfrm>
          <a:prstGeom prst="rect">
            <a:avLst/>
          </a:prstGeom>
          <a:noFill/>
          <a:ln/>
        </p:spPr>
        <p:txBody>
          <a:bodyPr wrap="square" rtlCol="0" anchor="ctr"/>
          <a:lstStyle/>
          <a:p>
            <a:pPr marL="0" indent="0" algn="ctr">
              <a:buNone/>
            </a:pPr>
            <a:r>
              <a:rPr lang="en-US" sz="832" b="1" dirty="0">
                <a:solidFill>
                  <a:srgbClr val="FFFFFF"/>
                </a:solidFill>
                <a:latin typeface="Calibri" pitchFamily="34" charset="0"/>
                <a:ea typeface="Calibri" pitchFamily="34" charset="-122"/>
                <a:cs typeface="Calibri" pitchFamily="34" charset="-120"/>
              </a:rPr>
              <a:t>!</a:t>
            </a:r>
            <a:endParaRPr lang="en-US" sz="832" dirty="0"/>
          </a:p>
        </p:txBody>
      </p:sp>
      <p:sp>
        <p:nvSpPr>
          <p:cNvPr id="7" name="Text 5"/>
          <p:cNvSpPr/>
          <p:nvPr/>
        </p:nvSpPr>
        <p:spPr>
          <a:xfrm>
            <a:off x="1005840" y="3566160"/>
            <a:ext cx="5577840" cy="457200"/>
          </a:xfrm>
          <a:prstGeom prst="rect">
            <a:avLst/>
          </a:prstGeom>
          <a:noFill/>
          <a:ln/>
        </p:spPr>
        <p:txBody>
          <a:bodyPr wrap="square" rtlCol="0" anchor="ctr"/>
          <a:lstStyle/>
          <a:p>
            <a:pPr marL="0" indent="0">
              <a:buNone/>
            </a:pPr>
            <a:r>
              <a:rPr lang="en-US" sz="1250" dirty="0">
                <a:solidFill>
                  <a:srgbClr val="16213A"/>
                </a:solidFill>
                <a:latin typeface="Calibri" pitchFamily="34" charset="0"/>
                <a:ea typeface="Calibri" pitchFamily="34" charset="-122"/>
                <a:cs typeface="Calibri" pitchFamily="34" charset="-120"/>
              </a:rPr>
              <a:t>No unified explanation of purpose, syntax &amp; risk</a:t>
            </a:r>
            <a:endParaRPr lang="en-US" sz="1250" dirty="0"/>
          </a:p>
        </p:txBody>
      </p:sp>
      <p:sp>
        <p:nvSpPr>
          <p:cNvPr id="8" name="Shape 6"/>
          <p:cNvSpPr/>
          <p:nvPr/>
        </p:nvSpPr>
        <p:spPr>
          <a:xfrm>
            <a:off x="548640" y="4178808"/>
            <a:ext cx="292608" cy="292608"/>
          </a:xfrm>
          <a:prstGeom prst="ellipse">
            <a:avLst/>
          </a:prstGeom>
          <a:solidFill>
            <a:srgbClr val="17607D"/>
          </a:solidFill>
          <a:ln/>
        </p:spPr>
      </p:sp>
      <p:sp>
        <p:nvSpPr>
          <p:cNvPr id="9" name="Text 7"/>
          <p:cNvSpPr/>
          <p:nvPr/>
        </p:nvSpPr>
        <p:spPr>
          <a:xfrm>
            <a:off x="548640" y="4178808"/>
            <a:ext cx="292608" cy="292608"/>
          </a:xfrm>
          <a:prstGeom prst="rect">
            <a:avLst/>
          </a:prstGeom>
          <a:noFill/>
          <a:ln/>
        </p:spPr>
        <p:txBody>
          <a:bodyPr wrap="square" rtlCol="0" anchor="ctr"/>
          <a:lstStyle/>
          <a:p>
            <a:pPr marL="0" indent="0" algn="ctr">
              <a:buNone/>
            </a:pPr>
            <a:r>
              <a:rPr lang="en-US" sz="832" b="1" dirty="0">
                <a:solidFill>
                  <a:srgbClr val="FFFFFF"/>
                </a:solidFill>
                <a:latin typeface="Calibri" pitchFamily="34" charset="0"/>
                <a:ea typeface="Calibri" pitchFamily="34" charset="-122"/>
                <a:cs typeface="Calibri" pitchFamily="34" charset="-120"/>
              </a:rPr>
              <a:t>!</a:t>
            </a:r>
            <a:endParaRPr lang="en-US" sz="832" dirty="0"/>
          </a:p>
        </p:txBody>
      </p:sp>
      <p:sp>
        <p:nvSpPr>
          <p:cNvPr id="10" name="Text 8"/>
          <p:cNvSpPr/>
          <p:nvPr/>
        </p:nvSpPr>
        <p:spPr>
          <a:xfrm>
            <a:off x="1005840" y="4133088"/>
            <a:ext cx="5577840" cy="457200"/>
          </a:xfrm>
          <a:prstGeom prst="rect">
            <a:avLst/>
          </a:prstGeom>
          <a:noFill/>
          <a:ln/>
        </p:spPr>
        <p:txBody>
          <a:bodyPr wrap="square" rtlCol="0" anchor="ctr"/>
          <a:lstStyle/>
          <a:p>
            <a:pPr marL="0" indent="0">
              <a:buNone/>
            </a:pPr>
            <a:r>
              <a:rPr lang="en-US" sz="1250" dirty="0">
                <a:solidFill>
                  <a:srgbClr val="16213A"/>
                </a:solidFill>
                <a:latin typeface="Calibri" pitchFamily="34" charset="0"/>
                <a:ea typeface="Calibri" pitchFamily="34" charset="-122"/>
                <a:cs typeface="Calibri" pitchFamily="34" charset="-120"/>
              </a:rPr>
              <a:t>Permission strings (rwxrwxrwx) are manually decoded</a:t>
            </a:r>
            <a:endParaRPr lang="en-US" sz="1250" dirty="0"/>
          </a:p>
        </p:txBody>
      </p:sp>
      <p:sp>
        <p:nvSpPr>
          <p:cNvPr id="11" name="Shape 9"/>
          <p:cNvSpPr/>
          <p:nvPr/>
        </p:nvSpPr>
        <p:spPr>
          <a:xfrm>
            <a:off x="548640" y="4745736"/>
            <a:ext cx="292608" cy="292608"/>
          </a:xfrm>
          <a:prstGeom prst="ellipse">
            <a:avLst/>
          </a:prstGeom>
          <a:solidFill>
            <a:srgbClr val="17607D"/>
          </a:solidFill>
          <a:ln/>
        </p:spPr>
      </p:sp>
      <p:sp>
        <p:nvSpPr>
          <p:cNvPr id="12" name="Text 10"/>
          <p:cNvSpPr/>
          <p:nvPr/>
        </p:nvSpPr>
        <p:spPr>
          <a:xfrm>
            <a:off x="548640" y="4745736"/>
            <a:ext cx="292608" cy="292608"/>
          </a:xfrm>
          <a:prstGeom prst="rect">
            <a:avLst/>
          </a:prstGeom>
          <a:noFill/>
          <a:ln/>
        </p:spPr>
        <p:txBody>
          <a:bodyPr wrap="square" rtlCol="0" anchor="ctr"/>
          <a:lstStyle/>
          <a:p>
            <a:pPr marL="0" indent="0" algn="ctr">
              <a:buNone/>
            </a:pPr>
            <a:r>
              <a:rPr lang="en-US" sz="832" b="1" dirty="0">
                <a:solidFill>
                  <a:srgbClr val="FFFFFF"/>
                </a:solidFill>
                <a:latin typeface="Calibri" pitchFamily="34" charset="0"/>
                <a:ea typeface="Calibri" pitchFamily="34" charset="-122"/>
                <a:cs typeface="Calibri" pitchFamily="34" charset="-120"/>
              </a:rPr>
              <a:t>!</a:t>
            </a:r>
            <a:endParaRPr lang="en-US" sz="832" dirty="0"/>
          </a:p>
        </p:txBody>
      </p:sp>
      <p:sp>
        <p:nvSpPr>
          <p:cNvPr id="13" name="Text 11"/>
          <p:cNvSpPr/>
          <p:nvPr/>
        </p:nvSpPr>
        <p:spPr>
          <a:xfrm>
            <a:off x="1005840" y="4700016"/>
            <a:ext cx="5577840" cy="457200"/>
          </a:xfrm>
          <a:prstGeom prst="rect">
            <a:avLst/>
          </a:prstGeom>
          <a:noFill/>
          <a:ln/>
        </p:spPr>
        <p:txBody>
          <a:bodyPr wrap="square" rtlCol="0" anchor="ctr"/>
          <a:lstStyle/>
          <a:p>
            <a:pPr marL="0" indent="0">
              <a:buNone/>
            </a:pPr>
            <a:r>
              <a:rPr lang="en-US" sz="1250" dirty="0">
                <a:solidFill>
                  <a:srgbClr val="16213A"/>
                </a:solidFill>
                <a:latin typeface="Calibri" pitchFamily="34" charset="0"/>
                <a:ea typeface="Calibri" pitchFamily="34" charset="-122"/>
                <a:cs typeface="Calibri" pitchFamily="34" charset="-120"/>
              </a:rPr>
              <a:t>No immediate Low / Medium / High / Critical rating</a:t>
            </a:r>
            <a:endParaRPr lang="en-US" sz="1250" dirty="0"/>
          </a:p>
        </p:txBody>
      </p:sp>
      <p:sp>
        <p:nvSpPr>
          <p:cNvPr id="14" name="Shape 12"/>
          <p:cNvSpPr/>
          <p:nvPr/>
        </p:nvSpPr>
        <p:spPr>
          <a:xfrm>
            <a:off x="548640" y="5312664"/>
            <a:ext cx="292608" cy="292608"/>
          </a:xfrm>
          <a:prstGeom prst="ellipse">
            <a:avLst/>
          </a:prstGeom>
          <a:solidFill>
            <a:srgbClr val="17607D"/>
          </a:solidFill>
          <a:ln/>
        </p:spPr>
      </p:sp>
      <p:sp>
        <p:nvSpPr>
          <p:cNvPr id="15" name="Text 13"/>
          <p:cNvSpPr/>
          <p:nvPr/>
        </p:nvSpPr>
        <p:spPr>
          <a:xfrm>
            <a:off x="548640" y="5312664"/>
            <a:ext cx="292608" cy="292608"/>
          </a:xfrm>
          <a:prstGeom prst="rect">
            <a:avLst/>
          </a:prstGeom>
          <a:noFill/>
          <a:ln/>
        </p:spPr>
        <p:txBody>
          <a:bodyPr wrap="square" rtlCol="0" anchor="ctr"/>
          <a:lstStyle/>
          <a:p>
            <a:pPr marL="0" indent="0" algn="ctr">
              <a:buNone/>
            </a:pPr>
            <a:r>
              <a:rPr lang="en-US" sz="832" b="1" dirty="0">
                <a:solidFill>
                  <a:srgbClr val="FFFFFF"/>
                </a:solidFill>
                <a:latin typeface="Calibri" pitchFamily="34" charset="0"/>
                <a:ea typeface="Calibri" pitchFamily="34" charset="-122"/>
                <a:cs typeface="Calibri" pitchFamily="34" charset="-120"/>
              </a:rPr>
              <a:t>!</a:t>
            </a:r>
            <a:endParaRPr lang="en-US" sz="832" dirty="0"/>
          </a:p>
        </p:txBody>
      </p:sp>
      <p:sp>
        <p:nvSpPr>
          <p:cNvPr id="16" name="Text 14"/>
          <p:cNvSpPr/>
          <p:nvPr/>
        </p:nvSpPr>
        <p:spPr>
          <a:xfrm>
            <a:off x="1005840" y="5266944"/>
            <a:ext cx="5577840" cy="457200"/>
          </a:xfrm>
          <a:prstGeom prst="rect">
            <a:avLst/>
          </a:prstGeom>
          <a:noFill/>
          <a:ln/>
        </p:spPr>
        <p:txBody>
          <a:bodyPr wrap="square" rtlCol="0" anchor="ctr"/>
          <a:lstStyle/>
          <a:p>
            <a:pPr marL="0" indent="0">
              <a:buNone/>
            </a:pPr>
            <a:r>
              <a:rPr lang="en-US" sz="1250" dirty="0">
                <a:solidFill>
                  <a:srgbClr val="16213A"/>
                </a:solidFill>
                <a:latin typeface="Calibri" pitchFamily="34" charset="0"/>
                <a:ea typeface="Calibri" pitchFamily="34" charset="-122"/>
                <a:cs typeface="Calibri" pitchFamily="34" charset="-120"/>
              </a:rPr>
              <a:t>Hardening guidance is scattered across many guides</a:t>
            </a:r>
            <a:endParaRPr lang="en-US" sz="1250" dirty="0"/>
          </a:p>
        </p:txBody>
      </p:sp>
      <p:sp>
        <p:nvSpPr>
          <p:cNvPr id="17" name="Shape 15"/>
          <p:cNvSpPr/>
          <p:nvPr/>
        </p:nvSpPr>
        <p:spPr>
          <a:xfrm>
            <a:off x="6903720" y="1600200"/>
            <a:ext cx="4709160" cy="4434840"/>
          </a:xfrm>
          <a:prstGeom prst="roundRect">
            <a:avLst>
              <a:gd name="adj" fmla="val 2062"/>
            </a:avLst>
          </a:prstGeom>
          <a:solidFill>
            <a:srgbClr val="0F1B33"/>
          </a:solidFill>
          <a:ln/>
        </p:spPr>
      </p:sp>
      <p:sp>
        <p:nvSpPr>
          <p:cNvPr id="18" name="Text 16"/>
          <p:cNvSpPr/>
          <p:nvPr/>
        </p:nvSpPr>
        <p:spPr>
          <a:xfrm>
            <a:off x="7269480" y="1874520"/>
            <a:ext cx="3657600" cy="274320"/>
          </a:xfrm>
          <a:prstGeom prst="rect">
            <a:avLst/>
          </a:prstGeom>
          <a:noFill/>
          <a:ln/>
        </p:spPr>
        <p:txBody>
          <a:bodyPr wrap="square" rtlCol="0" anchor="ctr"/>
          <a:lstStyle/>
          <a:p>
            <a:pPr marL="0" indent="0">
              <a:buNone/>
            </a:pPr>
            <a:r>
              <a:rPr lang="en-US" sz="1100" b="1" kern="0" spc="200" dirty="0">
                <a:solidFill>
                  <a:srgbClr val="27E1C1"/>
                </a:solidFill>
                <a:latin typeface="Calibri" pitchFamily="34" charset="0"/>
                <a:ea typeface="Calibri" pitchFamily="34" charset="-122"/>
                <a:cs typeface="Calibri" pitchFamily="34" charset="-120"/>
              </a:rPr>
              <a:t>A COMMON MISTAKE</a:t>
            </a:r>
            <a:endParaRPr lang="en-US" sz="1100" dirty="0"/>
          </a:p>
        </p:txBody>
      </p:sp>
      <p:sp>
        <p:nvSpPr>
          <p:cNvPr id="19" name="Shape 17"/>
          <p:cNvSpPr/>
          <p:nvPr/>
        </p:nvSpPr>
        <p:spPr>
          <a:xfrm>
            <a:off x="7269480" y="2286000"/>
            <a:ext cx="3977640" cy="594360"/>
          </a:xfrm>
          <a:prstGeom prst="roundRect">
            <a:avLst>
              <a:gd name="adj" fmla="val 9231"/>
            </a:avLst>
          </a:prstGeom>
          <a:solidFill>
            <a:srgbClr val="0A1428"/>
          </a:solidFill>
          <a:ln w="12700">
            <a:solidFill>
              <a:srgbClr val="17607D"/>
            </a:solidFill>
            <a:prstDash val="solid"/>
          </a:ln>
        </p:spPr>
      </p:sp>
      <p:sp>
        <p:nvSpPr>
          <p:cNvPr id="20" name="Text 18"/>
          <p:cNvSpPr/>
          <p:nvPr/>
        </p:nvSpPr>
        <p:spPr>
          <a:xfrm>
            <a:off x="7406640" y="2286000"/>
            <a:ext cx="3703320" cy="594360"/>
          </a:xfrm>
          <a:prstGeom prst="rect">
            <a:avLst/>
          </a:prstGeom>
          <a:noFill/>
          <a:ln/>
        </p:spPr>
        <p:txBody>
          <a:bodyPr wrap="square" rtlCol="0" anchor="ctr"/>
          <a:lstStyle/>
          <a:p>
            <a:pPr marL="0" indent="0">
              <a:buNone/>
            </a:pPr>
            <a:r>
              <a:rPr lang="en-US" sz="1400" dirty="0">
                <a:solidFill>
                  <a:srgbClr val="27E1C1"/>
                </a:solidFill>
                <a:latin typeface="Courier New" pitchFamily="34" charset="0"/>
                <a:ea typeface="Courier New" pitchFamily="34" charset="-122"/>
                <a:cs typeface="Courier New" pitchFamily="34" charset="-120"/>
              </a:rPr>
              <a:t>$ chmod 777 script.sh</a:t>
            </a:r>
            <a:endParaRPr lang="en-US" sz="1400" dirty="0"/>
          </a:p>
        </p:txBody>
      </p:sp>
      <p:sp>
        <p:nvSpPr>
          <p:cNvPr id="21" name="Text 19"/>
          <p:cNvSpPr/>
          <p:nvPr/>
        </p:nvSpPr>
        <p:spPr>
          <a:xfrm>
            <a:off x="7269480" y="3063240"/>
            <a:ext cx="3977640" cy="1188720"/>
          </a:xfrm>
          <a:prstGeom prst="rect">
            <a:avLst/>
          </a:prstGeom>
          <a:noFill/>
          <a:ln/>
        </p:spPr>
        <p:txBody>
          <a:bodyPr wrap="square" rtlCol="0" anchor="ctr"/>
          <a:lstStyle/>
          <a:p>
            <a:pPr marL="0" indent="0">
              <a:lnSpc>
                <a:spcPct val="130000"/>
              </a:lnSpc>
              <a:buNone/>
            </a:pPr>
            <a:r>
              <a:rPr lang="en-US" sz="1250" b="1" dirty="0">
                <a:solidFill>
                  <a:srgbClr val="FFFFFF"/>
                </a:solidFill>
                <a:latin typeface="Calibri" pitchFamily="34" charset="0"/>
                <a:ea typeface="Calibri" pitchFamily="34" charset="-122"/>
                <a:cs typeface="Calibri" pitchFamily="34" charset="-120"/>
              </a:rPr>
              <a:t>What it actually does:  </a:t>
            </a:r>
            <a:r>
              <a:rPr lang="en-US" sz="1250" dirty="0">
                <a:solidFill>
                  <a:srgbClr val="C7D2E8"/>
                </a:solidFill>
                <a:latin typeface="Calibri" pitchFamily="34" charset="0"/>
                <a:ea typeface="Calibri" pitchFamily="34" charset="-122"/>
                <a:cs typeface="Calibri" pitchFamily="34" charset="-120"/>
              </a:rPr>
              <a:t>grants read, write, and execute access to the owner, the group, AND every other user on the system.</a:t>
            </a:r>
            <a:endParaRPr lang="en-US" sz="1250" dirty="0"/>
          </a:p>
        </p:txBody>
      </p:sp>
      <p:sp>
        <p:nvSpPr>
          <p:cNvPr id="22" name="Text 20"/>
          <p:cNvSpPr/>
          <p:nvPr/>
        </p:nvSpPr>
        <p:spPr>
          <a:xfrm>
            <a:off x="7269480" y="4343400"/>
            <a:ext cx="1828800" cy="274320"/>
          </a:xfrm>
          <a:prstGeom prst="rect">
            <a:avLst/>
          </a:prstGeom>
          <a:noFill/>
          <a:ln/>
        </p:spPr>
        <p:txBody>
          <a:bodyPr wrap="square" rtlCol="0" anchor="ctr"/>
          <a:lstStyle/>
          <a:p>
            <a:pPr marL="0" indent="0">
              <a:buNone/>
            </a:pPr>
            <a:r>
              <a:rPr lang="en-US" sz="1000" b="1" kern="0" spc="150" dirty="0">
                <a:solidFill>
                  <a:srgbClr val="8F9DBD"/>
                </a:solidFill>
                <a:latin typeface="Calibri" pitchFamily="34" charset="0"/>
                <a:ea typeface="Calibri" pitchFamily="34" charset="-122"/>
                <a:cs typeface="Calibri" pitchFamily="34" charset="-120"/>
              </a:rPr>
              <a:t>RISK LEVEL</a:t>
            </a:r>
            <a:endParaRPr lang="en-US" sz="1000" dirty="0"/>
          </a:p>
        </p:txBody>
      </p:sp>
      <p:sp>
        <p:nvSpPr>
          <p:cNvPr id="23" name="Shape 21"/>
          <p:cNvSpPr/>
          <p:nvPr/>
        </p:nvSpPr>
        <p:spPr>
          <a:xfrm>
            <a:off x="7269480" y="4617720"/>
            <a:ext cx="1554480" cy="457200"/>
          </a:xfrm>
          <a:prstGeom prst="roundRect">
            <a:avLst>
              <a:gd name="adj" fmla="val 16000"/>
            </a:avLst>
          </a:prstGeom>
          <a:solidFill>
            <a:srgbClr val="B71C1C"/>
          </a:solidFill>
          <a:ln/>
        </p:spPr>
      </p:sp>
      <p:sp>
        <p:nvSpPr>
          <p:cNvPr id="24" name="Text 22"/>
          <p:cNvSpPr/>
          <p:nvPr/>
        </p:nvSpPr>
        <p:spPr>
          <a:xfrm>
            <a:off x="7269480" y="4617720"/>
            <a:ext cx="1554480" cy="4572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CRITICAL</a:t>
            </a:r>
            <a:endParaRPr lang="en-US" sz="1300" dirty="0"/>
          </a:p>
        </p:txBody>
      </p:sp>
      <p:sp>
        <p:nvSpPr>
          <p:cNvPr id="25" name="Text 23"/>
          <p:cNvSpPr/>
          <p:nvPr/>
        </p:nvSpPr>
        <p:spPr>
          <a:xfrm>
            <a:off x="7269480" y="5257800"/>
            <a:ext cx="3977640" cy="640080"/>
          </a:xfrm>
          <a:prstGeom prst="rect">
            <a:avLst/>
          </a:prstGeom>
          <a:noFill/>
          <a:ln/>
        </p:spPr>
        <p:txBody>
          <a:bodyPr wrap="square" rtlCol="0" anchor="ctr"/>
          <a:lstStyle/>
          <a:p>
            <a:pPr marL="0" indent="0">
              <a:lnSpc>
                <a:spcPct val="130000"/>
              </a:lnSpc>
              <a:buNone/>
            </a:pPr>
            <a:r>
              <a:rPr lang="en-US" sz="1250" b="1" dirty="0">
                <a:solidFill>
                  <a:srgbClr val="FFFFFF"/>
                </a:solidFill>
                <a:latin typeface="Calibri" pitchFamily="34" charset="0"/>
                <a:ea typeface="Calibri" pitchFamily="34" charset="-122"/>
                <a:cs typeface="Calibri" pitchFamily="34" charset="-120"/>
              </a:rPr>
              <a:t>Safer alternative:  </a:t>
            </a:r>
            <a:r>
              <a:rPr lang="en-US" sz="1250" dirty="0">
                <a:solidFill>
                  <a:srgbClr val="27E1C1"/>
                </a:solidFill>
                <a:latin typeface="Calibri" pitchFamily="34" charset="0"/>
                <a:ea typeface="Calibri" pitchFamily="34" charset="-122"/>
                <a:cs typeface="Calibri" pitchFamily="34" charset="-120"/>
              </a:rPr>
              <a:t>chmod 750 (script/directory) or chmod 640 (private file)</a:t>
            </a:r>
            <a:endParaRPr lang="en-US" sz="1250" dirty="0"/>
          </a:p>
        </p:txBody>
      </p:sp>
      <p:sp>
        <p:nvSpPr>
          <p:cNvPr id="26" name="Text 24"/>
          <p:cNvSpPr/>
          <p:nvPr/>
        </p:nvSpPr>
        <p:spPr>
          <a:xfrm>
            <a:off x="457200" y="6510528"/>
            <a:ext cx="7315200" cy="274320"/>
          </a:xfrm>
          <a:prstGeom prst="rect">
            <a:avLst/>
          </a:prstGeom>
          <a:noFill/>
          <a:ln/>
        </p:spPr>
        <p:txBody>
          <a:bodyPr wrap="square" rtlCol="0" anchor="ctr"/>
          <a:lstStyle/>
          <a:p>
            <a:pPr marL="0" indent="0" algn="l">
              <a:buNone/>
            </a:pPr>
            <a:r>
              <a:rPr lang="en-US" sz="900" dirty="0">
                <a:solidFill>
                  <a:srgbClr val="5B6B85"/>
                </a:solidFill>
                <a:latin typeface="Calibri" pitchFamily="34" charset="0"/>
                <a:ea typeface="Calibri" pitchFamily="34" charset="-122"/>
                <a:cs typeface="Calibri" pitchFamily="34" charset="-120"/>
              </a:rPr>
              <a:t>AI Linux Security Assistant</a:t>
            </a:r>
            <a:endParaRPr lang="en-US" sz="900" dirty="0"/>
          </a:p>
        </p:txBody>
      </p:sp>
      <p:sp>
        <p:nvSpPr>
          <p:cNvPr id="27" name="Text 25"/>
          <p:cNvSpPr/>
          <p:nvPr/>
        </p:nvSpPr>
        <p:spPr>
          <a:xfrm>
            <a:off x="11247120" y="6510528"/>
            <a:ext cx="457200" cy="274320"/>
          </a:xfrm>
          <a:prstGeom prst="rect">
            <a:avLst/>
          </a:prstGeom>
          <a:noFill/>
          <a:ln/>
        </p:spPr>
        <p:txBody>
          <a:bodyPr wrap="square" rtlCol="0" anchor="ctr"/>
          <a:lstStyle/>
          <a:p>
            <a:pPr marL="0" indent="0" algn="r">
              <a:buNone/>
            </a:pPr>
            <a:r>
              <a:rPr lang="en-US" sz="900" dirty="0">
                <a:solidFill>
                  <a:srgbClr val="5B6B85"/>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50" b="1" kern="0" spc="200" dirty="0">
                <a:solidFill>
                  <a:srgbClr val="17607D"/>
                </a:solidFill>
                <a:latin typeface="Calibri" pitchFamily="34" charset="0"/>
                <a:ea typeface="Calibri" pitchFamily="34" charset="-122"/>
                <a:cs typeface="Calibri" pitchFamily="34" charset="-120"/>
              </a:rPr>
              <a:t>SYSTEM STUDY</a:t>
            </a:r>
            <a:endParaRPr lang="en-US" sz="1250" dirty="0"/>
          </a:p>
        </p:txBody>
      </p:sp>
      <p:sp>
        <p:nvSpPr>
          <p:cNvPr id="3" name="Text 1"/>
          <p:cNvSpPr/>
          <p:nvPr/>
        </p:nvSpPr>
        <p:spPr>
          <a:xfrm>
            <a:off x="548640" y="685800"/>
            <a:ext cx="10789920" cy="731520"/>
          </a:xfrm>
          <a:prstGeom prst="rect">
            <a:avLst/>
          </a:prstGeom>
          <a:noFill/>
          <a:ln/>
        </p:spPr>
        <p:txBody>
          <a:bodyPr wrap="square" rtlCol="0" anchor="ctr"/>
          <a:lstStyle/>
          <a:p>
            <a:pPr marL="0" indent="0">
              <a:buNone/>
            </a:pPr>
            <a:r>
              <a:rPr lang="en-US" sz="3000" b="1" dirty="0">
                <a:solidFill>
                  <a:srgbClr val="16213A"/>
                </a:solidFill>
                <a:latin typeface="Cambria" pitchFamily="34" charset="0"/>
                <a:ea typeface="Cambria" pitchFamily="34" charset="-122"/>
                <a:cs typeface="Cambria" pitchFamily="34" charset="-120"/>
              </a:rPr>
              <a:t>Existing Workflow vs. Proposed Assistant</a:t>
            </a:r>
            <a:endParaRPr lang="en-US" sz="3000" dirty="0"/>
          </a:p>
        </p:txBody>
      </p:sp>
      <p:sp>
        <p:nvSpPr>
          <p:cNvPr id="4" name="Shape 2"/>
          <p:cNvSpPr/>
          <p:nvPr/>
        </p:nvSpPr>
        <p:spPr>
          <a:xfrm>
            <a:off x="548640" y="1691640"/>
            <a:ext cx="5349240" cy="4343400"/>
          </a:xfrm>
          <a:prstGeom prst="roundRect">
            <a:avLst>
              <a:gd name="adj" fmla="val 2105"/>
            </a:avLst>
          </a:prstGeom>
          <a:solidFill>
            <a:srgbClr val="FBEAEA"/>
          </a:solidFill>
          <a:ln/>
        </p:spPr>
      </p:sp>
      <p:sp>
        <p:nvSpPr>
          <p:cNvPr id="5" name="Shape 3"/>
          <p:cNvSpPr/>
          <p:nvPr/>
        </p:nvSpPr>
        <p:spPr>
          <a:xfrm>
            <a:off x="548640" y="1691640"/>
            <a:ext cx="5349240" cy="594360"/>
          </a:xfrm>
          <a:prstGeom prst="roundRect">
            <a:avLst>
              <a:gd name="adj" fmla="val 15385"/>
            </a:avLst>
          </a:prstGeom>
          <a:solidFill>
            <a:srgbClr val="8A1F2B"/>
          </a:solidFill>
          <a:ln/>
        </p:spPr>
      </p:sp>
      <p:sp>
        <p:nvSpPr>
          <p:cNvPr id="6" name="Shape 4"/>
          <p:cNvSpPr/>
          <p:nvPr/>
        </p:nvSpPr>
        <p:spPr>
          <a:xfrm>
            <a:off x="548640" y="2011680"/>
            <a:ext cx="5349240" cy="274320"/>
          </a:xfrm>
          <a:prstGeom prst="rect">
            <a:avLst/>
          </a:prstGeom>
          <a:solidFill>
            <a:srgbClr val="8A1F2B"/>
          </a:solidFill>
          <a:ln/>
        </p:spPr>
      </p:sp>
      <p:sp>
        <p:nvSpPr>
          <p:cNvPr id="7" name="Text 5"/>
          <p:cNvSpPr/>
          <p:nvPr/>
        </p:nvSpPr>
        <p:spPr>
          <a:xfrm>
            <a:off x="548640" y="1691640"/>
            <a:ext cx="5349240" cy="594360"/>
          </a:xfrm>
          <a:prstGeom prst="rect">
            <a:avLst/>
          </a:prstGeom>
          <a:noFill/>
          <a:ln/>
        </p:spPr>
        <p:txBody>
          <a:bodyPr wrap="square"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Existing Approach</a:t>
            </a:r>
            <a:endParaRPr lang="en-US" sz="1700" dirty="0"/>
          </a:p>
        </p:txBody>
      </p:sp>
      <p:sp>
        <p:nvSpPr>
          <p:cNvPr id="8" name="Shape 6"/>
          <p:cNvSpPr/>
          <p:nvPr/>
        </p:nvSpPr>
        <p:spPr>
          <a:xfrm>
            <a:off x="868680" y="2633472"/>
            <a:ext cx="109728" cy="109728"/>
          </a:xfrm>
          <a:prstGeom prst="ellipse">
            <a:avLst/>
          </a:prstGeom>
          <a:solidFill>
            <a:srgbClr val="8A1F2B"/>
          </a:solidFill>
          <a:ln/>
        </p:spPr>
      </p:sp>
      <p:sp>
        <p:nvSpPr>
          <p:cNvPr id="9" name="Text 7"/>
          <p:cNvSpPr/>
          <p:nvPr/>
        </p:nvSpPr>
        <p:spPr>
          <a:xfrm>
            <a:off x="1097280" y="2487168"/>
            <a:ext cx="4480560" cy="548640"/>
          </a:xfrm>
          <a:prstGeom prst="rect">
            <a:avLst/>
          </a:prstGeom>
          <a:noFill/>
          <a:ln/>
        </p:spPr>
        <p:txBody>
          <a:bodyPr wrap="square" rtlCol="0" anchor="ctr"/>
          <a:lstStyle/>
          <a:p>
            <a:pPr marL="0" indent="0">
              <a:lnSpc>
                <a:spcPct val="115000"/>
              </a:lnSpc>
              <a:buNone/>
            </a:pPr>
            <a:r>
              <a:rPr lang="en-US" sz="1250" dirty="0">
                <a:solidFill>
                  <a:srgbClr val="16213A"/>
                </a:solidFill>
                <a:latin typeface="Calibri" pitchFamily="34" charset="0"/>
                <a:ea typeface="Calibri" pitchFamily="34" charset="-122"/>
                <a:cs typeface="Calibri" pitchFamily="34" charset="-120"/>
              </a:rPr>
              <a:t>Search engines, tutorials &amp; trial-and-error</a:t>
            </a:r>
            <a:endParaRPr lang="en-US" sz="1250" dirty="0"/>
          </a:p>
        </p:txBody>
      </p:sp>
      <p:sp>
        <p:nvSpPr>
          <p:cNvPr id="10" name="Shape 8"/>
          <p:cNvSpPr/>
          <p:nvPr/>
        </p:nvSpPr>
        <p:spPr>
          <a:xfrm>
            <a:off x="868680" y="3291840"/>
            <a:ext cx="109728" cy="109728"/>
          </a:xfrm>
          <a:prstGeom prst="ellipse">
            <a:avLst/>
          </a:prstGeom>
          <a:solidFill>
            <a:srgbClr val="8A1F2B"/>
          </a:solidFill>
          <a:ln/>
        </p:spPr>
      </p:sp>
      <p:sp>
        <p:nvSpPr>
          <p:cNvPr id="11" name="Text 9"/>
          <p:cNvSpPr/>
          <p:nvPr/>
        </p:nvSpPr>
        <p:spPr>
          <a:xfrm>
            <a:off x="1097280" y="3145536"/>
            <a:ext cx="4480560" cy="548640"/>
          </a:xfrm>
          <a:prstGeom prst="rect">
            <a:avLst/>
          </a:prstGeom>
          <a:noFill/>
          <a:ln/>
        </p:spPr>
        <p:txBody>
          <a:bodyPr wrap="square" rtlCol="0" anchor="ctr"/>
          <a:lstStyle/>
          <a:p>
            <a:pPr marL="0" indent="0">
              <a:lnSpc>
                <a:spcPct val="115000"/>
              </a:lnSpc>
              <a:buNone/>
            </a:pPr>
            <a:r>
              <a:rPr lang="en-US" sz="1250" dirty="0">
                <a:solidFill>
                  <a:srgbClr val="16213A"/>
                </a:solidFill>
                <a:latin typeface="Calibri" pitchFamily="34" charset="0"/>
                <a:ea typeface="Calibri" pitchFamily="34" charset="-122"/>
                <a:cs typeface="Calibri" pitchFamily="34" charset="-120"/>
              </a:rPr>
              <a:t>Manual decoding of permission triplets</a:t>
            </a:r>
            <a:endParaRPr lang="en-US" sz="1250" dirty="0"/>
          </a:p>
        </p:txBody>
      </p:sp>
      <p:sp>
        <p:nvSpPr>
          <p:cNvPr id="12" name="Shape 10"/>
          <p:cNvSpPr/>
          <p:nvPr/>
        </p:nvSpPr>
        <p:spPr>
          <a:xfrm>
            <a:off x="868680" y="3950208"/>
            <a:ext cx="109728" cy="109728"/>
          </a:xfrm>
          <a:prstGeom prst="ellipse">
            <a:avLst/>
          </a:prstGeom>
          <a:solidFill>
            <a:srgbClr val="8A1F2B"/>
          </a:solidFill>
          <a:ln/>
        </p:spPr>
      </p:sp>
      <p:sp>
        <p:nvSpPr>
          <p:cNvPr id="13" name="Text 11"/>
          <p:cNvSpPr/>
          <p:nvPr/>
        </p:nvSpPr>
        <p:spPr>
          <a:xfrm>
            <a:off x="1097280" y="3803904"/>
            <a:ext cx="4480560" cy="548640"/>
          </a:xfrm>
          <a:prstGeom prst="rect">
            <a:avLst/>
          </a:prstGeom>
          <a:noFill/>
          <a:ln/>
        </p:spPr>
        <p:txBody>
          <a:bodyPr wrap="square" rtlCol="0" anchor="ctr"/>
          <a:lstStyle/>
          <a:p>
            <a:pPr marL="0" indent="0">
              <a:lnSpc>
                <a:spcPct val="115000"/>
              </a:lnSpc>
              <a:buNone/>
            </a:pPr>
            <a:r>
              <a:rPr lang="en-US" sz="1250" dirty="0">
                <a:solidFill>
                  <a:srgbClr val="16213A"/>
                </a:solidFill>
                <a:latin typeface="Calibri" pitchFamily="34" charset="0"/>
                <a:ea typeface="Calibri" pitchFamily="34" charset="-122"/>
                <a:cs typeface="Calibri" pitchFamily="34" charset="-120"/>
              </a:rPr>
              <a:t>Risk awareness depends on learner experience</a:t>
            </a:r>
            <a:endParaRPr lang="en-US" sz="1250" dirty="0"/>
          </a:p>
        </p:txBody>
      </p:sp>
      <p:sp>
        <p:nvSpPr>
          <p:cNvPr id="14" name="Shape 12"/>
          <p:cNvSpPr/>
          <p:nvPr/>
        </p:nvSpPr>
        <p:spPr>
          <a:xfrm>
            <a:off x="868680" y="4608576"/>
            <a:ext cx="109728" cy="109728"/>
          </a:xfrm>
          <a:prstGeom prst="ellipse">
            <a:avLst/>
          </a:prstGeom>
          <a:solidFill>
            <a:srgbClr val="8A1F2B"/>
          </a:solidFill>
          <a:ln/>
        </p:spPr>
      </p:sp>
      <p:sp>
        <p:nvSpPr>
          <p:cNvPr id="15" name="Text 13"/>
          <p:cNvSpPr/>
          <p:nvPr/>
        </p:nvSpPr>
        <p:spPr>
          <a:xfrm>
            <a:off x="1097280" y="4462272"/>
            <a:ext cx="4480560" cy="548640"/>
          </a:xfrm>
          <a:prstGeom prst="rect">
            <a:avLst/>
          </a:prstGeom>
          <a:noFill/>
          <a:ln/>
        </p:spPr>
        <p:txBody>
          <a:bodyPr wrap="square" rtlCol="0" anchor="ctr"/>
          <a:lstStyle/>
          <a:p>
            <a:pPr marL="0" indent="0">
              <a:lnSpc>
                <a:spcPct val="115000"/>
              </a:lnSpc>
              <a:buNone/>
            </a:pPr>
            <a:r>
              <a:rPr lang="en-US" sz="1250" dirty="0">
                <a:solidFill>
                  <a:srgbClr val="16213A"/>
                </a:solidFill>
                <a:latin typeface="Calibri" pitchFamily="34" charset="0"/>
                <a:ea typeface="Calibri" pitchFamily="34" charset="-122"/>
                <a:cs typeface="Calibri" pitchFamily="34" charset="-120"/>
              </a:rPr>
              <a:t>Copy-pasted commands run without review</a:t>
            </a:r>
            <a:endParaRPr lang="en-US" sz="1250" dirty="0"/>
          </a:p>
        </p:txBody>
      </p:sp>
      <p:sp>
        <p:nvSpPr>
          <p:cNvPr id="16" name="Shape 14"/>
          <p:cNvSpPr/>
          <p:nvPr/>
        </p:nvSpPr>
        <p:spPr>
          <a:xfrm>
            <a:off x="868680" y="5266944"/>
            <a:ext cx="109728" cy="109728"/>
          </a:xfrm>
          <a:prstGeom prst="ellipse">
            <a:avLst/>
          </a:prstGeom>
          <a:solidFill>
            <a:srgbClr val="8A1F2B"/>
          </a:solidFill>
          <a:ln/>
        </p:spPr>
      </p:sp>
      <p:sp>
        <p:nvSpPr>
          <p:cNvPr id="17" name="Text 15"/>
          <p:cNvSpPr/>
          <p:nvPr/>
        </p:nvSpPr>
        <p:spPr>
          <a:xfrm>
            <a:off x="1097280" y="5120640"/>
            <a:ext cx="4480560" cy="548640"/>
          </a:xfrm>
          <a:prstGeom prst="rect">
            <a:avLst/>
          </a:prstGeom>
          <a:noFill/>
          <a:ln/>
        </p:spPr>
        <p:txBody>
          <a:bodyPr wrap="square" rtlCol="0" anchor="ctr"/>
          <a:lstStyle/>
          <a:p>
            <a:pPr marL="0" indent="0">
              <a:lnSpc>
                <a:spcPct val="115000"/>
              </a:lnSpc>
              <a:buNone/>
            </a:pPr>
            <a:r>
              <a:rPr lang="en-US" sz="1250" dirty="0">
                <a:solidFill>
                  <a:srgbClr val="16213A"/>
                </a:solidFill>
                <a:latin typeface="Calibri" pitchFamily="34" charset="0"/>
                <a:ea typeface="Calibri" pitchFamily="34" charset="-122"/>
                <a:cs typeface="Calibri" pitchFamily="34" charset="-120"/>
              </a:rPr>
              <a:t>Manual notes / screenshots for documentation</a:t>
            </a:r>
            <a:endParaRPr lang="en-US" sz="1250" dirty="0"/>
          </a:p>
        </p:txBody>
      </p:sp>
      <p:sp>
        <p:nvSpPr>
          <p:cNvPr id="18" name="Shape 16"/>
          <p:cNvSpPr/>
          <p:nvPr/>
        </p:nvSpPr>
        <p:spPr>
          <a:xfrm>
            <a:off x="6446520" y="1691640"/>
            <a:ext cx="5349240" cy="4343400"/>
          </a:xfrm>
          <a:prstGeom prst="roundRect">
            <a:avLst>
              <a:gd name="adj" fmla="val 2105"/>
            </a:avLst>
          </a:prstGeom>
          <a:solidFill>
            <a:srgbClr val="E8F6F1"/>
          </a:solidFill>
          <a:ln/>
        </p:spPr>
      </p:sp>
      <p:sp>
        <p:nvSpPr>
          <p:cNvPr id="19" name="Shape 17"/>
          <p:cNvSpPr/>
          <p:nvPr/>
        </p:nvSpPr>
        <p:spPr>
          <a:xfrm>
            <a:off x="6446520" y="1691640"/>
            <a:ext cx="5349240" cy="594360"/>
          </a:xfrm>
          <a:prstGeom prst="roundRect">
            <a:avLst>
              <a:gd name="adj" fmla="val 15385"/>
            </a:avLst>
          </a:prstGeom>
          <a:solidFill>
            <a:srgbClr val="146356"/>
          </a:solidFill>
          <a:ln/>
        </p:spPr>
      </p:sp>
      <p:sp>
        <p:nvSpPr>
          <p:cNvPr id="20" name="Shape 18"/>
          <p:cNvSpPr/>
          <p:nvPr/>
        </p:nvSpPr>
        <p:spPr>
          <a:xfrm>
            <a:off x="6446520" y="2011680"/>
            <a:ext cx="5349240" cy="274320"/>
          </a:xfrm>
          <a:prstGeom prst="rect">
            <a:avLst/>
          </a:prstGeom>
          <a:solidFill>
            <a:srgbClr val="146356"/>
          </a:solidFill>
          <a:ln/>
        </p:spPr>
      </p:sp>
      <p:sp>
        <p:nvSpPr>
          <p:cNvPr id="21" name="Text 19"/>
          <p:cNvSpPr/>
          <p:nvPr/>
        </p:nvSpPr>
        <p:spPr>
          <a:xfrm>
            <a:off x="6446520" y="1691640"/>
            <a:ext cx="5349240" cy="594360"/>
          </a:xfrm>
          <a:prstGeom prst="rect">
            <a:avLst/>
          </a:prstGeom>
          <a:noFill/>
          <a:ln/>
        </p:spPr>
        <p:txBody>
          <a:bodyPr wrap="square"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AI Linux Security Assistant</a:t>
            </a:r>
            <a:endParaRPr lang="en-US" sz="1700" dirty="0"/>
          </a:p>
        </p:txBody>
      </p:sp>
      <p:sp>
        <p:nvSpPr>
          <p:cNvPr id="22" name="Shape 20"/>
          <p:cNvSpPr/>
          <p:nvPr/>
        </p:nvSpPr>
        <p:spPr>
          <a:xfrm>
            <a:off x="6766560" y="2633472"/>
            <a:ext cx="109728" cy="109728"/>
          </a:xfrm>
          <a:prstGeom prst="ellipse">
            <a:avLst/>
          </a:prstGeom>
          <a:solidFill>
            <a:srgbClr val="146356"/>
          </a:solidFill>
          <a:ln/>
        </p:spPr>
      </p:sp>
      <p:sp>
        <p:nvSpPr>
          <p:cNvPr id="23" name="Text 21"/>
          <p:cNvSpPr/>
          <p:nvPr/>
        </p:nvSpPr>
        <p:spPr>
          <a:xfrm>
            <a:off x="6995160" y="2487168"/>
            <a:ext cx="4480560" cy="548640"/>
          </a:xfrm>
          <a:prstGeom prst="rect">
            <a:avLst/>
          </a:prstGeom>
          <a:noFill/>
          <a:ln/>
        </p:spPr>
        <p:txBody>
          <a:bodyPr wrap="square" rtlCol="0" anchor="ctr"/>
          <a:lstStyle/>
          <a:p>
            <a:pPr marL="0" indent="0">
              <a:lnSpc>
                <a:spcPct val="115000"/>
              </a:lnSpc>
              <a:buNone/>
            </a:pPr>
            <a:r>
              <a:rPr lang="en-US" sz="1250" dirty="0">
                <a:solidFill>
                  <a:srgbClr val="16213A"/>
                </a:solidFill>
                <a:latin typeface="Calibri" pitchFamily="34" charset="0"/>
                <a:ea typeface="Calibri" pitchFamily="34" charset="-122"/>
                <a:cs typeface="Calibri" pitchFamily="34" charset="-120"/>
              </a:rPr>
              <a:t>One dashboard: command, output &amp; permission input</a:t>
            </a:r>
            <a:endParaRPr lang="en-US" sz="1250" dirty="0"/>
          </a:p>
        </p:txBody>
      </p:sp>
      <p:sp>
        <p:nvSpPr>
          <p:cNvPr id="24" name="Shape 22"/>
          <p:cNvSpPr/>
          <p:nvPr/>
        </p:nvSpPr>
        <p:spPr>
          <a:xfrm>
            <a:off x="6766560" y="3291840"/>
            <a:ext cx="109728" cy="109728"/>
          </a:xfrm>
          <a:prstGeom prst="ellipse">
            <a:avLst/>
          </a:prstGeom>
          <a:solidFill>
            <a:srgbClr val="146356"/>
          </a:solidFill>
          <a:ln/>
        </p:spPr>
      </p:sp>
      <p:sp>
        <p:nvSpPr>
          <p:cNvPr id="25" name="Text 23"/>
          <p:cNvSpPr/>
          <p:nvPr/>
        </p:nvSpPr>
        <p:spPr>
          <a:xfrm>
            <a:off x="6995160" y="3145536"/>
            <a:ext cx="4480560" cy="548640"/>
          </a:xfrm>
          <a:prstGeom prst="rect">
            <a:avLst/>
          </a:prstGeom>
          <a:noFill/>
          <a:ln/>
        </p:spPr>
        <p:txBody>
          <a:bodyPr wrap="square" rtlCol="0" anchor="ctr"/>
          <a:lstStyle/>
          <a:p>
            <a:pPr marL="0" indent="0">
              <a:lnSpc>
                <a:spcPct val="115000"/>
              </a:lnSpc>
              <a:buNone/>
            </a:pPr>
            <a:r>
              <a:rPr lang="en-US" sz="1250" dirty="0">
                <a:solidFill>
                  <a:srgbClr val="16213A"/>
                </a:solidFill>
                <a:latin typeface="Calibri" pitchFamily="34" charset="0"/>
                <a:ea typeface="Calibri" pitchFamily="34" charset="-122"/>
                <a:cs typeface="Calibri" pitchFamily="34" charset="-120"/>
              </a:rPr>
              <a:t>Automatic owner / group / other breakdown</a:t>
            </a:r>
            <a:endParaRPr lang="en-US" sz="1250" dirty="0"/>
          </a:p>
        </p:txBody>
      </p:sp>
      <p:sp>
        <p:nvSpPr>
          <p:cNvPr id="26" name="Shape 24"/>
          <p:cNvSpPr/>
          <p:nvPr/>
        </p:nvSpPr>
        <p:spPr>
          <a:xfrm>
            <a:off x="6766560" y="3950208"/>
            <a:ext cx="109728" cy="109728"/>
          </a:xfrm>
          <a:prstGeom prst="ellipse">
            <a:avLst/>
          </a:prstGeom>
          <a:solidFill>
            <a:srgbClr val="146356"/>
          </a:solidFill>
          <a:ln/>
        </p:spPr>
      </p:sp>
      <p:sp>
        <p:nvSpPr>
          <p:cNvPr id="27" name="Text 25"/>
          <p:cNvSpPr/>
          <p:nvPr/>
        </p:nvSpPr>
        <p:spPr>
          <a:xfrm>
            <a:off x="6995160" y="3803904"/>
            <a:ext cx="4480560" cy="548640"/>
          </a:xfrm>
          <a:prstGeom prst="rect">
            <a:avLst/>
          </a:prstGeom>
          <a:noFill/>
          <a:ln/>
        </p:spPr>
        <p:txBody>
          <a:bodyPr wrap="square" rtlCol="0" anchor="ctr"/>
          <a:lstStyle/>
          <a:p>
            <a:pPr marL="0" indent="0">
              <a:lnSpc>
                <a:spcPct val="115000"/>
              </a:lnSpc>
              <a:buNone/>
            </a:pPr>
            <a:r>
              <a:rPr lang="en-US" sz="1250" dirty="0">
                <a:solidFill>
                  <a:srgbClr val="16213A"/>
                </a:solidFill>
                <a:latin typeface="Calibri" pitchFamily="34" charset="0"/>
                <a:ea typeface="Calibri" pitchFamily="34" charset="-122"/>
                <a:cs typeface="Calibri" pitchFamily="34" charset="-120"/>
              </a:rPr>
              <a:t>Deterministic Low–Critical risk classification</a:t>
            </a:r>
            <a:endParaRPr lang="en-US" sz="1250" dirty="0"/>
          </a:p>
        </p:txBody>
      </p:sp>
      <p:sp>
        <p:nvSpPr>
          <p:cNvPr id="28" name="Shape 26"/>
          <p:cNvSpPr/>
          <p:nvPr/>
        </p:nvSpPr>
        <p:spPr>
          <a:xfrm>
            <a:off x="6766560" y="4608576"/>
            <a:ext cx="109728" cy="109728"/>
          </a:xfrm>
          <a:prstGeom prst="ellipse">
            <a:avLst/>
          </a:prstGeom>
          <a:solidFill>
            <a:srgbClr val="146356"/>
          </a:solidFill>
          <a:ln/>
        </p:spPr>
      </p:sp>
      <p:sp>
        <p:nvSpPr>
          <p:cNvPr id="29" name="Text 27"/>
          <p:cNvSpPr/>
          <p:nvPr/>
        </p:nvSpPr>
        <p:spPr>
          <a:xfrm>
            <a:off x="6995160" y="4462272"/>
            <a:ext cx="4480560" cy="548640"/>
          </a:xfrm>
          <a:prstGeom prst="rect">
            <a:avLst/>
          </a:prstGeom>
          <a:noFill/>
          <a:ln/>
        </p:spPr>
        <p:txBody>
          <a:bodyPr wrap="square" rtlCol="0" anchor="ctr"/>
          <a:lstStyle/>
          <a:p>
            <a:pPr marL="0" indent="0">
              <a:lnSpc>
                <a:spcPct val="115000"/>
              </a:lnSpc>
              <a:buNone/>
            </a:pPr>
            <a:r>
              <a:rPr lang="en-US" sz="1250" dirty="0">
                <a:solidFill>
                  <a:srgbClr val="16213A"/>
                </a:solidFill>
                <a:latin typeface="Calibri" pitchFamily="34" charset="0"/>
                <a:ea typeface="Calibri" pitchFamily="34" charset="-122"/>
                <a:cs typeface="Calibri" pitchFamily="34" charset="-120"/>
              </a:rPr>
              <a:t>Commands are parsed only — never executed</a:t>
            </a:r>
            <a:endParaRPr lang="en-US" sz="1250" dirty="0"/>
          </a:p>
        </p:txBody>
      </p:sp>
      <p:sp>
        <p:nvSpPr>
          <p:cNvPr id="30" name="Shape 28"/>
          <p:cNvSpPr/>
          <p:nvPr/>
        </p:nvSpPr>
        <p:spPr>
          <a:xfrm>
            <a:off x="6766560" y="5266944"/>
            <a:ext cx="109728" cy="109728"/>
          </a:xfrm>
          <a:prstGeom prst="ellipse">
            <a:avLst/>
          </a:prstGeom>
          <a:solidFill>
            <a:srgbClr val="146356"/>
          </a:solidFill>
          <a:ln/>
        </p:spPr>
      </p:sp>
      <p:sp>
        <p:nvSpPr>
          <p:cNvPr id="31" name="Text 29"/>
          <p:cNvSpPr/>
          <p:nvPr/>
        </p:nvSpPr>
        <p:spPr>
          <a:xfrm>
            <a:off x="6995160" y="5120640"/>
            <a:ext cx="4480560" cy="548640"/>
          </a:xfrm>
          <a:prstGeom prst="rect">
            <a:avLst/>
          </a:prstGeom>
          <a:noFill/>
          <a:ln/>
        </p:spPr>
        <p:txBody>
          <a:bodyPr wrap="square" rtlCol="0" anchor="ctr"/>
          <a:lstStyle/>
          <a:p>
            <a:pPr marL="0" indent="0">
              <a:lnSpc>
                <a:spcPct val="115000"/>
              </a:lnSpc>
              <a:buNone/>
            </a:pPr>
            <a:r>
              <a:rPr lang="en-US" sz="1250" dirty="0">
                <a:solidFill>
                  <a:srgbClr val="16213A"/>
                </a:solidFill>
                <a:latin typeface="Calibri" pitchFamily="34" charset="0"/>
                <a:ea typeface="Calibri" pitchFamily="34" charset="-122"/>
                <a:cs typeface="Calibri" pitchFamily="34" charset="-120"/>
              </a:rPr>
              <a:t>One-click downloadable PDF security report</a:t>
            </a:r>
            <a:endParaRPr lang="en-US" sz="1250" dirty="0"/>
          </a:p>
        </p:txBody>
      </p:sp>
      <p:sp>
        <p:nvSpPr>
          <p:cNvPr id="32" name="Text 30"/>
          <p:cNvSpPr/>
          <p:nvPr/>
        </p:nvSpPr>
        <p:spPr>
          <a:xfrm>
            <a:off x="457200" y="6510528"/>
            <a:ext cx="7315200" cy="274320"/>
          </a:xfrm>
          <a:prstGeom prst="rect">
            <a:avLst/>
          </a:prstGeom>
          <a:noFill/>
          <a:ln/>
        </p:spPr>
        <p:txBody>
          <a:bodyPr wrap="square" rtlCol="0" anchor="ctr"/>
          <a:lstStyle/>
          <a:p>
            <a:pPr marL="0" indent="0" algn="l">
              <a:buNone/>
            </a:pPr>
            <a:r>
              <a:rPr lang="en-US" sz="900" dirty="0">
                <a:solidFill>
                  <a:srgbClr val="5B6B85"/>
                </a:solidFill>
                <a:latin typeface="Calibri" pitchFamily="34" charset="0"/>
                <a:ea typeface="Calibri" pitchFamily="34" charset="-122"/>
                <a:cs typeface="Calibri" pitchFamily="34" charset="-120"/>
              </a:rPr>
              <a:t>AI Linux Security Assistant</a:t>
            </a:r>
            <a:endParaRPr lang="en-US" sz="900" dirty="0"/>
          </a:p>
        </p:txBody>
      </p:sp>
      <p:sp>
        <p:nvSpPr>
          <p:cNvPr id="33" name="Text 31"/>
          <p:cNvSpPr/>
          <p:nvPr/>
        </p:nvSpPr>
        <p:spPr>
          <a:xfrm>
            <a:off x="11247120" y="6510528"/>
            <a:ext cx="457200" cy="274320"/>
          </a:xfrm>
          <a:prstGeom prst="rect">
            <a:avLst/>
          </a:prstGeom>
          <a:noFill/>
          <a:ln/>
        </p:spPr>
        <p:txBody>
          <a:bodyPr wrap="square" rtlCol="0" anchor="ctr"/>
          <a:lstStyle/>
          <a:p>
            <a:pPr marL="0" indent="0" algn="r">
              <a:buNone/>
            </a:pPr>
            <a:r>
              <a:rPr lang="en-US" sz="900" dirty="0">
                <a:solidFill>
                  <a:srgbClr val="5B6B85"/>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50" b="1" kern="0" spc="200" dirty="0">
                <a:solidFill>
                  <a:srgbClr val="17607D"/>
                </a:solidFill>
                <a:latin typeface="Calibri" pitchFamily="34" charset="0"/>
                <a:ea typeface="Calibri" pitchFamily="34" charset="-122"/>
                <a:cs typeface="Calibri" pitchFamily="34" charset="-120"/>
              </a:rPr>
              <a:t>AIMS &amp; OBJECTIVES</a:t>
            </a:r>
            <a:endParaRPr lang="en-US" sz="1250" dirty="0"/>
          </a:p>
        </p:txBody>
      </p:sp>
      <p:sp>
        <p:nvSpPr>
          <p:cNvPr id="3" name="Text 1"/>
          <p:cNvSpPr/>
          <p:nvPr/>
        </p:nvSpPr>
        <p:spPr>
          <a:xfrm>
            <a:off x="548640" y="685800"/>
            <a:ext cx="10789920" cy="731520"/>
          </a:xfrm>
          <a:prstGeom prst="rect">
            <a:avLst/>
          </a:prstGeom>
          <a:noFill/>
          <a:ln/>
        </p:spPr>
        <p:txBody>
          <a:bodyPr wrap="square" rtlCol="0" anchor="ctr"/>
          <a:lstStyle/>
          <a:p>
            <a:pPr marL="0" indent="0">
              <a:buNone/>
            </a:pPr>
            <a:r>
              <a:rPr lang="en-US" sz="3000" b="1" dirty="0">
                <a:solidFill>
                  <a:srgbClr val="16213A"/>
                </a:solidFill>
                <a:latin typeface="Cambria" pitchFamily="34" charset="0"/>
                <a:ea typeface="Cambria" pitchFamily="34" charset="-122"/>
                <a:cs typeface="Cambria" pitchFamily="34" charset="-120"/>
              </a:rPr>
              <a:t>What the Project Set Out to Do</a:t>
            </a:r>
            <a:endParaRPr lang="en-US" sz="3000" dirty="0"/>
          </a:p>
        </p:txBody>
      </p:sp>
      <p:sp>
        <p:nvSpPr>
          <p:cNvPr id="4" name="Shape 2"/>
          <p:cNvSpPr/>
          <p:nvPr/>
        </p:nvSpPr>
        <p:spPr>
          <a:xfrm>
            <a:off x="548640" y="1691640"/>
            <a:ext cx="3529584" cy="2148840"/>
          </a:xfrm>
          <a:prstGeom prst="roundRect">
            <a:avLst>
              <a:gd name="adj" fmla="val 3830"/>
            </a:avLst>
          </a:prstGeom>
          <a:solidFill>
            <a:srgbClr val="F3F6FA"/>
          </a:solidFill>
          <a:ln w="12700">
            <a:solidFill>
              <a:srgbClr val="E1E7F0"/>
            </a:solidFill>
            <a:prstDash val="solid"/>
          </a:ln>
        </p:spPr>
      </p:sp>
      <p:sp>
        <p:nvSpPr>
          <p:cNvPr id="5" name="Shape 3"/>
          <p:cNvSpPr/>
          <p:nvPr/>
        </p:nvSpPr>
        <p:spPr>
          <a:xfrm>
            <a:off x="822960" y="1965960"/>
            <a:ext cx="502920" cy="502920"/>
          </a:xfrm>
          <a:prstGeom prst="ellipse">
            <a:avLst/>
          </a:prstGeom>
          <a:solidFill>
            <a:srgbClr val="17607D"/>
          </a:solidFill>
          <a:ln/>
        </p:spPr>
      </p:sp>
      <p:sp>
        <p:nvSpPr>
          <p:cNvPr id="6" name="Text 4"/>
          <p:cNvSpPr/>
          <p:nvPr/>
        </p:nvSpPr>
        <p:spPr>
          <a:xfrm>
            <a:off x="822960" y="1965960"/>
            <a:ext cx="502920" cy="502920"/>
          </a:xfrm>
          <a:prstGeom prst="rect">
            <a:avLst/>
          </a:prstGeom>
          <a:noFill/>
          <a:ln/>
        </p:spPr>
        <p:txBody>
          <a:bodyPr wrap="square" rtlCol="0" anchor="ctr"/>
          <a:lstStyle/>
          <a:p>
            <a:pPr marL="0" indent="0" algn="ctr">
              <a:buNone/>
            </a:pPr>
            <a:r>
              <a:rPr lang="en-US" sz="1430" b="1" dirty="0">
                <a:solidFill>
                  <a:srgbClr val="FFFFFF"/>
                </a:solidFill>
                <a:latin typeface="Calibri" pitchFamily="34" charset="0"/>
                <a:ea typeface="Calibri" pitchFamily="34" charset="-122"/>
                <a:cs typeface="Calibri" pitchFamily="34" charset="-120"/>
              </a:rPr>
              <a:t>1</a:t>
            </a:r>
            <a:endParaRPr lang="en-US" sz="1430" dirty="0"/>
          </a:p>
        </p:txBody>
      </p:sp>
      <p:sp>
        <p:nvSpPr>
          <p:cNvPr id="7" name="Text 5"/>
          <p:cNvSpPr/>
          <p:nvPr/>
        </p:nvSpPr>
        <p:spPr>
          <a:xfrm>
            <a:off x="822960" y="2606040"/>
            <a:ext cx="2980944" cy="365760"/>
          </a:xfrm>
          <a:prstGeom prst="rect">
            <a:avLst/>
          </a:prstGeom>
          <a:noFill/>
          <a:ln/>
        </p:spPr>
        <p:txBody>
          <a:bodyPr wrap="square" rtlCol="0" anchor="ctr"/>
          <a:lstStyle/>
          <a:p>
            <a:pPr marL="0" indent="0">
              <a:buNone/>
            </a:pPr>
            <a:r>
              <a:rPr lang="en-US" sz="1700" b="1" dirty="0">
                <a:solidFill>
                  <a:srgbClr val="16213A"/>
                </a:solidFill>
                <a:latin typeface="Cambria" pitchFamily="34" charset="0"/>
                <a:ea typeface="Cambria" pitchFamily="34" charset="-122"/>
                <a:cs typeface="Cambria" pitchFamily="34" charset="-120"/>
              </a:rPr>
              <a:t>Explain</a:t>
            </a:r>
            <a:endParaRPr lang="en-US" sz="1700" dirty="0"/>
          </a:p>
        </p:txBody>
      </p:sp>
      <p:sp>
        <p:nvSpPr>
          <p:cNvPr id="8" name="Text 6"/>
          <p:cNvSpPr/>
          <p:nvPr/>
        </p:nvSpPr>
        <p:spPr>
          <a:xfrm>
            <a:off x="822960" y="2971800"/>
            <a:ext cx="2980944" cy="777240"/>
          </a:xfrm>
          <a:prstGeom prst="rect">
            <a:avLst/>
          </a:prstGeom>
          <a:noFill/>
          <a:ln/>
        </p:spPr>
        <p:txBody>
          <a:bodyPr wrap="square" rtlCol="0" anchor="ctr"/>
          <a:lstStyle/>
          <a:p>
            <a:pPr marL="0" indent="0">
              <a:lnSpc>
                <a:spcPct val="125000"/>
              </a:lnSpc>
              <a:buNone/>
            </a:pPr>
            <a:r>
              <a:rPr lang="en-US" sz="1150" dirty="0">
                <a:solidFill>
                  <a:srgbClr val="5B6B85"/>
                </a:solidFill>
                <a:latin typeface="Calibri" pitchFamily="34" charset="0"/>
                <a:ea typeface="Calibri" pitchFamily="34" charset="-122"/>
                <a:cs typeface="Calibri" pitchFamily="34" charset="-120"/>
              </a:rPr>
              <a:t>Translate raw Linux commands into beginner-friendly purpose, syntax &amp; usage.</a:t>
            </a:r>
            <a:endParaRPr lang="en-US" sz="1150" dirty="0"/>
          </a:p>
        </p:txBody>
      </p:sp>
      <p:sp>
        <p:nvSpPr>
          <p:cNvPr id="9" name="Shape 7"/>
          <p:cNvSpPr/>
          <p:nvPr/>
        </p:nvSpPr>
        <p:spPr>
          <a:xfrm>
            <a:off x="4334256" y="1691640"/>
            <a:ext cx="3529584" cy="2148840"/>
          </a:xfrm>
          <a:prstGeom prst="roundRect">
            <a:avLst>
              <a:gd name="adj" fmla="val 3830"/>
            </a:avLst>
          </a:prstGeom>
          <a:solidFill>
            <a:srgbClr val="F3F6FA"/>
          </a:solidFill>
          <a:ln w="12700">
            <a:solidFill>
              <a:srgbClr val="E1E7F0"/>
            </a:solidFill>
            <a:prstDash val="solid"/>
          </a:ln>
        </p:spPr>
      </p:sp>
      <p:sp>
        <p:nvSpPr>
          <p:cNvPr id="10" name="Shape 8"/>
          <p:cNvSpPr/>
          <p:nvPr/>
        </p:nvSpPr>
        <p:spPr>
          <a:xfrm>
            <a:off x="4608576" y="1965960"/>
            <a:ext cx="502920" cy="502920"/>
          </a:xfrm>
          <a:prstGeom prst="ellipse">
            <a:avLst/>
          </a:prstGeom>
          <a:solidFill>
            <a:srgbClr val="17607D"/>
          </a:solidFill>
          <a:ln/>
        </p:spPr>
      </p:sp>
      <p:sp>
        <p:nvSpPr>
          <p:cNvPr id="11" name="Text 9"/>
          <p:cNvSpPr/>
          <p:nvPr/>
        </p:nvSpPr>
        <p:spPr>
          <a:xfrm>
            <a:off x="4608576" y="1965960"/>
            <a:ext cx="502920" cy="502920"/>
          </a:xfrm>
          <a:prstGeom prst="rect">
            <a:avLst/>
          </a:prstGeom>
          <a:noFill/>
          <a:ln/>
        </p:spPr>
        <p:txBody>
          <a:bodyPr wrap="square" rtlCol="0" anchor="ctr"/>
          <a:lstStyle/>
          <a:p>
            <a:pPr marL="0" indent="0" algn="ctr">
              <a:buNone/>
            </a:pPr>
            <a:r>
              <a:rPr lang="en-US" sz="1430" b="1" dirty="0">
                <a:solidFill>
                  <a:srgbClr val="FFFFFF"/>
                </a:solidFill>
                <a:latin typeface="Calibri" pitchFamily="34" charset="0"/>
                <a:ea typeface="Calibri" pitchFamily="34" charset="-122"/>
                <a:cs typeface="Calibri" pitchFamily="34" charset="-120"/>
              </a:rPr>
              <a:t>2</a:t>
            </a:r>
            <a:endParaRPr lang="en-US" sz="1430" dirty="0"/>
          </a:p>
        </p:txBody>
      </p:sp>
      <p:sp>
        <p:nvSpPr>
          <p:cNvPr id="12" name="Text 10"/>
          <p:cNvSpPr/>
          <p:nvPr/>
        </p:nvSpPr>
        <p:spPr>
          <a:xfrm>
            <a:off x="4608576" y="2606040"/>
            <a:ext cx="2980944" cy="365760"/>
          </a:xfrm>
          <a:prstGeom prst="rect">
            <a:avLst/>
          </a:prstGeom>
          <a:noFill/>
          <a:ln/>
        </p:spPr>
        <p:txBody>
          <a:bodyPr wrap="square" rtlCol="0" anchor="ctr"/>
          <a:lstStyle/>
          <a:p>
            <a:pPr marL="0" indent="0">
              <a:buNone/>
            </a:pPr>
            <a:r>
              <a:rPr lang="en-US" sz="1700" b="1" dirty="0">
                <a:solidFill>
                  <a:srgbClr val="16213A"/>
                </a:solidFill>
                <a:latin typeface="Cambria" pitchFamily="34" charset="0"/>
                <a:ea typeface="Cambria" pitchFamily="34" charset="-122"/>
                <a:cs typeface="Cambria" pitchFamily="34" charset="-120"/>
              </a:rPr>
              <a:t>Analyze</a:t>
            </a:r>
            <a:endParaRPr lang="en-US" sz="1700" dirty="0"/>
          </a:p>
        </p:txBody>
      </p:sp>
      <p:sp>
        <p:nvSpPr>
          <p:cNvPr id="13" name="Text 11"/>
          <p:cNvSpPr/>
          <p:nvPr/>
        </p:nvSpPr>
        <p:spPr>
          <a:xfrm>
            <a:off x="4608576" y="2971800"/>
            <a:ext cx="2980944" cy="777240"/>
          </a:xfrm>
          <a:prstGeom prst="rect">
            <a:avLst/>
          </a:prstGeom>
          <a:noFill/>
          <a:ln/>
        </p:spPr>
        <p:txBody>
          <a:bodyPr wrap="square" rtlCol="0" anchor="ctr"/>
          <a:lstStyle/>
          <a:p>
            <a:pPr marL="0" indent="0">
              <a:lnSpc>
                <a:spcPct val="125000"/>
              </a:lnSpc>
              <a:buNone/>
            </a:pPr>
            <a:r>
              <a:rPr lang="en-US" sz="1150" dirty="0">
                <a:solidFill>
                  <a:srgbClr val="5B6B85"/>
                </a:solidFill>
                <a:latin typeface="Calibri" pitchFamily="34" charset="0"/>
                <a:ea typeface="Calibri" pitchFamily="34" charset="-122"/>
                <a:cs typeface="Calibri" pitchFamily="34" charset="-120"/>
              </a:rPr>
              <a:t>Break down symbolic &amp; octal permissions into owner / group / other access.</a:t>
            </a:r>
            <a:endParaRPr lang="en-US" sz="1150" dirty="0"/>
          </a:p>
        </p:txBody>
      </p:sp>
      <p:sp>
        <p:nvSpPr>
          <p:cNvPr id="14" name="Shape 12"/>
          <p:cNvSpPr/>
          <p:nvPr/>
        </p:nvSpPr>
        <p:spPr>
          <a:xfrm>
            <a:off x="8119872" y="1691640"/>
            <a:ext cx="3529584" cy="2148840"/>
          </a:xfrm>
          <a:prstGeom prst="roundRect">
            <a:avLst>
              <a:gd name="adj" fmla="val 3830"/>
            </a:avLst>
          </a:prstGeom>
          <a:solidFill>
            <a:srgbClr val="F3F6FA"/>
          </a:solidFill>
          <a:ln w="12700">
            <a:solidFill>
              <a:srgbClr val="E1E7F0"/>
            </a:solidFill>
            <a:prstDash val="solid"/>
          </a:ln>
        </p:spPr>
      </p:sp>
      <p:sp>
        <p:nvSpPr>
          <p:cNvPr id="15" name="Shape 13"/>
          <p:cNvSpPr/>
          <p:nvPr/>
        </p:nvSpPr>
        <p:spPr>
          <a:xfrm>
            <a:off x="8394192" y="1965960"/>
            <a:ext cx="502920" cy="502920"/>
          </a:xfrm>
          <a:prstGeom prst="ellipse">
            <a:avLst/>
          </a:prstGeom>
          <a:solidFill>
            <a:srgbClr val="17607D"/>
          </a:solidFill>
          <a:ln/>
        </p:spPr>
      </p:sp>
      <p:sp>
        <p:nvSpPr>
          <p:cNvPr id="16" name="Text 14"/>
          <p:cNvSpPr/>
          <p:nvPr/>
        </p:nvSpPr>
        <p:spPr>
          <a:xfrm>
            <a:off x="8394192" y="1965960"/>
            <a:ext cx="502920" cy="502920"/>
          </a:xfrm>
          <a:prstGeom prst="rect">
            <a:avLst/>
          </a:prstGeom>
          <a:noFill/>
          <a:ln/>
        </p:spPr>
        <p:txBody>
          <a:bodyPr wrap="square" rtlCol="0" anchor="ctr"/>
          <a:lstStyle/>
          <a:p>
            <a:pPr marL="0" indent="0" algn="ctr">
              <a:buNone/>
            </a:pPr>
            <a:r>
              <a:rPr lang="en-US" sz="1430" b="1" dirty="0">
                <a:solidFill>
                  <a:srgbClr val="FFFFFF"/>
                </a:solidFill>
                <a:latin typeface="Calibri" pitchFamily="34" charset="0"/>
                <a:ea typeface="Calibri" pitchFamily="34" charset="-122"/>
                <a:cs typeface="Calibri" pitchFamily="34" charset="-120"/>
              </a:rPr>
              <a:t>3</a:t>
            </a:r>
            <a:endParaRPr lang="en-US" sz="1430" dirty="0"/>
          </a:p>
        </p:txBody>
      </p:sp>
      <p:sp>
        <p:nvSpPr>
          <p:cNvPr id="17" name="Text 15"/>
          <p:cNvSpPr/>
          <p:nvPr/>
        </p:nvSpPr>
        <p:spPr>
          <a:xfrm>
            <a:off x="8394192" y="2606040"/>
            <a:ext cx="2980944" cy="365760"/>
          </a:xfrm>
          <a:prstGeom prst="rect">
            <a:avLst/>
          </a:prstGeom>
          <a:noFill/>
          <a:ln/>
        </p:spPr>
        <p:txBody>
          <a:bodyPr wrap="square" rtlCol="0" anchor="ctr"/>
          <a:lstStyle/>
          <a:p>
            <a:pPr marL="0" indent="0">
              <a:buNone/>
            </a:pPr>
            <a:r>
              <a:rPr lang="en-US" sz="1700" b="1" dirty="0">
                <a:solidFill>
                  <a:srgbClr val="16213A"/>
                </a:solidFill>
                <a:latin typeface="Cambria" pitchFamily="34" charset="0"/>
                <a:ea typeface="Cambria" pitchFamily="34" charset="-122"/>
                <a:cs typeface="Cambria" pitchFamily="34" charset="-120"/>
              </a:rPr>
              <a:t>Classify</a:t>
            </a:r>
            <a:endParaRPr lang="en-US" sz="1700" dirty="0"/>
          </a:p>
        </p:txBody>
      </p:sp>
      <p:sp>
        <p:nvSpPr>
          <p:cNvPr id="18" name="Text 16"/>
          <p:cNvSpPr/>
          <p:nvPr/>
        </p:nvSpPr>
        <p:spPr>
          <a:xfrm>
            <a:off x="8394192" y="2971800"/>
            <a:ext cx="2980944" cy="777240"/>
          </a:xfrm>
          <a:prstGeom prst="rect">
            <a:avLst/>
          </a:prstGeom>
          <a:noFill/>
          <a:ln/>
        </p:spPr>
        <p:txBody>
          <a:bodyPr wrap="square" rtlCol="0" anchor="ctr"/>
          <a:lstStyle/>
          <a:p>
            <a:pPr marL="0" indent="0">
              <a:lnSpc>
                <a:spcPct val="125000"/>
              </a:lnSpc>
              <a:buNone/>
            </a:pPr>
            <a:r>
              <a:rPr lang="en-US" sz="1150" dirty="0">
                <a:solidFill>
                  <a:srgbClr val="5B6B85"/>
                </a:solidFill>
                <a:latin typeface="Calibri" pitchFamily="34" charset="0"/>
                <a:ea typeface="Calibri" pitchFamily="34" charset="-122"/>
                <a:cs typeface="Calibri" pitchFamily="34" charset="-120"/>
              </a:rPr>
              <a:t>Rate every finding Low, Medium, High, or Critical using consistent rules.</a:t>
            </a:r>
            <a:endParaRPr lang="en-US" sz="1150" dirty="0"/>
          </a:p>
        </p:txBody>
      </p:sp>
      <p:sp>
        <p:nvSpPr>
          <p:cNvPr id="19" name="Shape 17"/>
          <p:cNvSpPr/>
          <p:nvPr/>
        </p:nvSpPr>
        <p:spPr>
          <a:xfrm>
            <a:off x="548640" y="4069080"/>
            <a:ext cx="3529584" cy="2148840"/>
          </a:xfrm>
          <a:prstGeom prst="roundRect">
            <a:avLst>
              <a:gd name="adj" fmla="val 3830"/>
            </a:avLst>
          </a:prstGeom>
          <a:solidFill>
            <a:srgbClr val="F3F6FA"/>
          </a:solidFill>
          <a:ln w="12700">
            <a:solidFill>
              <a:srgbClr val="E1E7F0"/>
            </a:solidFill>
            <a:prstDash val="solid"/>
          </a:ln>
        </p:spPr>
      </p:sp>
      <p:sp>
        <p:nvSpPr>
          <p:cNvPr id="20" name="Shape 18"/>
          <p:cNvSpPr/>
          <p:nvPr/>
        </p:nvSpPr>
        <p:spPr>
          <a:xfrm>
            <a:off x="822960" y="4343400"/>
            <a:ext cx="502920" cy="502920"/>
          </a:xfrm>
          <a:prstGeom prst="ellipse">
            <a:avLst/>
          </a:prstGeom>
          <a:solidFill>
            <a:srgbClr val="17607D"/>
          </a:solidFill>
          <a:ln/>
        </p:spPr>
      </p:sp>
      <p:sp>
        <p:nvSpPr>
          <p:cNvPr id="21" name="Text 19"/>
          <p:cNvSpPr/>
          <p:nvPr/>
        </p:nvSpPr>
        <p:spPr>
          <a:xfrm>
            <a:off x="822960" y="4343400"/>
            <a:ext cx="502920" cy="502920"/>
          </a:xfrm>
          <a:prstGeom prst="rect">
            <a:avLst/>
          </a:prstGeom>
          <a:noFill/>
          <a:ln/>
        </p:spPr>
        <p:txBody>
          <a:bodyPr wrap="square" rtlCol="0" anchor="ctr"/>
          <a:lstStyle/>
          <a:p>
            <a:pPr marL="0" indent="0" algn="ctr">
              <a:buNone/>
            </a:pPr>
            <a:r>
              <a:rPr lang="en-US" sz="1430" b="1" dirty="0">
                <a:solidFill>
                  <a:srgbClr val="FFFFFF"/>
                </a:solidFill>
                <a:latin typeface="Calibri" pitchFamily="34" charset="0"/>
                <a:ea typeface="Calibri" pitchFamily="34" charset="-122"/>
                <a:cs typeface="Calibri" pitchFamily="34" charset="-120"/>
              </a:rPr>
              <a:t>4</a:t>
            </a:r>
            <a:endParaRPr lang="en-US" sz="1430" dirty="0"/>
          </a:p>
        </p:txBody>
      </p:sp>
      <p:sp>
        <p:nvSpPr>
          <p:cNvPr id="22" name="Text 20"/>
          <p:cNvSpPr/>
          <p:nvPr/>
        </p:nvSpPr>
        <p:spPr>
          <a:xfrm>
            <a:off x="822960" y="4983480"/>
            <a:ext cx="2980944" cy="365760"/>
          </a:xfrm>
          <a:prstGeom prst="rect">
            <a:avLst/>
          </a:prstGeom>
          <a:noFill/>
          <a:ln/>
        </p:spPr>
        <p:txBody>
          <a:bodyPr wrap="square" rtlCol="0" anchor="ctr"/>
          <a:lstStyle/>
          <a:p>
            <a:pPr marL="0" indent="0">
              <a:buNone/>
            </a:pPr>
            <a:r>
              <a:rPr lang="en-US" sz="1700" b="1" dirty="0">
                <a:solidFill>
                  <a:srgbClr val="16213A"/>
                </a:solidFill>
                <a:latin typeface="Cambria" pitchFamily="34" charset="0"/>
                <a:ea typeface="Cambria" pitchFamily="34" charset="-122"/>
                <a:cs typeface="Cambria" pitchFamily="34" charset="-120"/>
              </a:rPr>
              <a:t>Recommend</a:t>
            </a:r>
            <a:endParaRPr lang="en-US" sz="1700" dirty="0"/>
          </a:p>
        </p:txBody>
      </p:sp>
      <p:sp>
        <p:nvSpPr>
          <p:cNvPr id="23" name="Text 21"/>
          <p:cNvSpPr/>
          <p:nvPr/>
        </p:nvSpPr>
        <p:spPr>
          <a:xfrm>
            <a:off x="822960" y="5349240"/>
            <a:ext cx="2980944" cy="777240"/>
          </a:xfrm>
          <a:prstGeom prst="rect">
            <a:avLst/>
          </a:prstGeom>
          <a:noFill/>
          <a:ln/>
        </p:spPr>
        <p:txBody>
          <a:bodyPr wrap="square" rtlCol="0" anchor="ctr"/>
          <a:lstStyle/>
          <a:p>
            <a:pPr marL="0" indent="0">
              <a:lnSpc>
                <a:spcPct val="125000"/>
              </a:lnSpc>
              <a:buNone/>
            </a:pPr>
            <a:r>
              <a:rPr lang="en-US" sz="1150" dirty="0">
                <a:solidFill>
                  <a:srgbClr val="5B6B85"/>
                </a:solidFill>
                <a:latin typeface="Calibri" pitchFamily="34" charset="0"/>
                <a:ea typeface="Calibri" pitchFamily="34" charset="-122"/>
                <a:cs typeface="Calibri" pitchFamily="34" charset="-120"/>
              </a:rPr>
              <a:t>Suggest least-privilege alternatives and safe security commands.</a:t>
            </a:r>
            <a:endParaRPr lang="en-US" sz="1150" dirty="0"/>
          </a:p>
        </p:txBody>
      </p:sp>
      <p:sp>
        <p:nvSpPr>
          <p:cNvPr id="24" name="Shape 22"/>
          <p:cNvSpPr/>
          <p:nvPr/>
        </p:nvSpPr>
        <p:spPr>
          <a:xfrm>
            <a:off x="4334256" y="4069080"/>
            <a:ext cx="3529584" cy="2148840"/>
          </a:xfrm>
          <a:prstGeom prst="roundRect">
            <a:avLst>
              <a:gd name="adj" fmla="val 3830"/>
            </a:avLst>
          </a:prstGeom>
          <a:solidFill>
            <a:srgbClr val="F3F6FA"/>
          </a:solidFill>
          <a:ln w="12700">
            <a:solidFill>
              <a:srgbClr val="E1E7F0"/>
            </a:solidFill>
            <a:prstDash val="solid"/>
          </a:ln>
        </p:spPr>
      </p:sp>
      <p:sp>
        <p:nvSpPr>
          <p:cNvPr id="25" name="Shape 23"/>
          <p:cNvSpPr/>
          <p:nvPr/>
        </p:nvSpPr>
        <p:spPr>
          <a:xfrm>
            <a:off x="4608576" y="4343400"/>
            <a:ext cx="502920" cy="502920"/>
          </a:xfrm>
          <a:prstGeom prst="ellipse">
            <a:avLst/>
          </a:prstGeom>
          <a:solidFill>
            <a:srgbClr val="17607D"/>
          </a:solidFill>
          <a:ln/>
        </p:spPr>
      </p:sp>
      <p:sp>
        <p:nvSpPr>
          <p:cNvPr id="26" name="Text 24"/>
          <p:cNvSpPr/>
          <p:nvPr/>
        </p:nvSpPr>
        <p:spPr>
          <a:xfrm>
            <a:off x="4608576" y="4343400"/>
            <a:ext cx="502920" cy="502920"/>
          </a:xfrm>
          <a:prstGeom prst="rect">
            <a:avLst/>
          </a:prstGeom>
          <a:noFill/>
          <a:ln/>
        </p:spPr>
        <p:txBody>
          <a:bodyPr wrap="square" rtlCol="0" anchor="ctr"/>
          <a:lstStyle/>
          <a:p>
            <a:pPr marL="0" indent="0" algn="ctr">
              <a:buNone/>
            </a:pPr>
            <a:r>
              <a:rPr lang="en-US" sz="1430" b="1" dirty="0">
                <a:solidFill>
                  <a:srgbClr val="FFFFFF"/>
                </a:solidFill>
                <a:latin typeface="Calibri" pitchFamily="34" charset="0"/>
                <a:ea typeface="Calibri" pitchFamily="34" charset="-122"/>
                <a:cs typeface="Calibri" pitchFamily="34" charset="-120"/>
              </a:rPr>
              <a:t>5</a:t>
            </a:r>
            <a:endParaRPr lang="en-US" sz="1430" dirty="0"/>
          </a:p>
        </p:txBody>
      </p:sp>
      <p:sp>
        <p:nvSpPr>
          <p:cNvPr id="27" name="Text 25"/>
          <p:cNvSpPr/>
          <p:nvPr/>
        </p:nvSpPr>
        <p:spPr>
          <a:xfrm>
            <a:off x="4608576" y="4983480"/>
            <a:ext cx="2980944" cy="365760"/>
          </a:xfrm>
          <a:prstGeom prst="rect">
            <a:avLst/>
          </a:prstGeom>
          <a:noFill/>
          <a:ln/>
        </p:spPr>
        <p:txBody>
          <a:bodyPr wrap="square" rtlCol="0" anchor="ctr"/>
          <a:lstStyle/>
          <a:p>
            <a:pPr marL="0" indent="0">
              <a:buNone/>
            </a:pPr>
            <a:r>
              <a:rPr lang="en-US" sz="1700" b="1" dirty="0">
                <a:solidFill>
                  <a:srgbClr val="16213A"/>
                </a:solidFill>
                <a:latin typeface="Cambria" pitchFamily="34" charset="0"/>
                <a:ea typeface="Cambria" pitchFamily="34" charset="-122"/>
                <a:cs typeface="Cambria" pitchFamily="34" charset="-120"/>
              </a:rPr>
              <a:t>Harden</a:t>
            </a:r>
            <a:endParaRPr lang="en-US" sz="1700" dirty="0"/>
          </a:p>
        </p:txBody>
      </p:sp>
      <p:sp>
        <p:nvSpPr>
          <p:cNvPr id="28" name="Text 26"/>
          <p:cNvSpPr/>
          <p:nvPr/>
        </p:nvSpPr>
        <p:spPr>
          <a:xfrm>
            <a:off x="4608576" y="5349240"/>
            <a:ext cx="2980944" cy="777240"/>
          </a:xfrm>
          <a:prstGeom prst="rect">
            <a:avLst/>
          </a:prstGeom>
          <a:noFill/>
          <a:ln/>
        </p:spPr>
        <p:txBody>
          <a:bodyPr wrap="square" rtlCol="0" anchor="ctr"/>
          <a:lstStyle/>
          <a:p>
            <a:pPr marL="0" indent="0">
              <a:lnSpc>
                <a:spcPct val="125000"/>
              </a:lnSpc>
              <a:buNone/>
            </a:pPr>
            <a:r>
              <a:rPr lang="en-US" sz="1150" dirty="0">
                <a:solidFill>
                  <a:srgbClr val="5B6B85"/>
                </a:solidFill>
                <a:latin typeface="Calibri" pitchFamily="34" charset="0"/>
                <a:ea typeface="Calibri" pitchFamily="34" charset="-122"/>
                <a:cs typeface="Calibri" pitchFamily="34" charset="-120"/>
              </a:rPr>
              <a:t>Provide a reusable checklist covering SSH, firewall, accounts &amp; updates.</a:t>
            </a:r>
            <a:endParaRPr lang="en-US" sz="1150" dirty="0"/>
          </a:p>
        </p:txBody>
      </p:sp>
      <p:sp>
        <p:nvSpPr>
          <p:cNvPr id="29" name="Shape 27"/>
          <p:cNvSpPr/>
          <p:nvPr/>
        </p:nvSpPr>
        <p:spPr>
          <a:xfrm>
            <a:off x="8119872" y="4069080"/>
            <a:ext cx="3529584" cy="2148840"/>
          </a:xfrm>
          <a:prstGeom prst="roundRect">
            <a:avLst>
              <a:gd name="adj" fmla="val 3830"/>
            </a:avLst>
          </a:prstGeom>
          <a:solidFill>
            <a:srgbClr val="F3F6FA"/>
          </a:solidFill>
          <a:ln w="12700">
            <a:solidFill>
              <a:srgbClr val="E1E7F0"/>
            </a:solidFill>
            <a:prstDash val="solid"/>
          </a:ln>
        </p:spPr>
      </p:sp>
      <p:sp>
        <p:nvSpPr>
          <p:cNvPr id="30" name="Shape 28"/>
          <p:cNvSpPr/>
          <p:nvPr/>
        </p:nvSpPr>
        <p:spPr>
          <a:xfrm>
            <a:off x="8394192" y="4343400"/>
            <a:ext cx="502920" cy="502920"/>
          </a:xfrm>
          <a:prstGeom prst="ellipse">
            <a:avLst/>
          </a:prstGeom>
          <a:solidFill>
            <a:srgbClr val="17607D"/>
          </a:solidFill>
          <a:ln/>
        </p:spPr>
      </p:sp>
      <p:sp>
        <p:nvSpPr>
          <p:cNvPr id="31" name="Text 29"/>
          <p:cNvSpPr/>
          <p:nvPr/>
        </p:nvSpPr>
        <p:spPr>
          <a:xfrm>
            <a:off x="8394192" y="4343400"/>
            <a:ext cx="502920" cy="502920"/>
          </a:xfrm>
          <a:prstGeom prst="rect">
            <a:avLst/>
          </a:prstGeom>
          <a:noFill/>
          <a:ln/>
        </p:spPr>
        <p:txBody>
          <a:bodyPr wrap="square" rtlCol="0" anchor="ctr"/>
          <a:lstStyle/>
          <a:p>
            <a:pPr marL="0" indent="0" algn="ctr">
              <a:buNone/>
            </a:pPr>
            <a:r>
              <a:rPr lang="en-US" sz="1430" b="1" dirty="0">
                <a:solidFill>
                  <a:srgbClr val="FFFFFF"/>
                </a:solidFill>
                <a:latin typeface="Calibri" pitchFamily="34" charset="0"/>
                <a:ea typeface="Calibri" pitchFamily="34" charset="-122"/>
                <a:cs typeface="Calibri" pitchFamily="34" charset="-120"/>
              </a:rPr>
              <a:t>6</a:t>
            </a:r>
            <a:endParaRPr lang="en-US" sz="1430" dirty="0"/>
          </a:p>
        </p:txBody>
      </p:sp>
      <p:sp>
        <p:nvSpPr>
          <p:cNvPr id="32" name="Text 30"/>
          <p:cNvSpPr/>
          <p:nvPr/>
        </p:nvSpPr>
        <p:spPr>
          <a:xfrm>
            <a:off x="8394192" y="4983480"/>
            <a:ext cx="2980944" cy="365760"/>
          </a:xfrm>
          <a:prstGeom prst="rect">
            <a:avLst/>
          </a:prstGeom>
          <a:noFill/>
          <a:ln/>
        </p:spPr>
        <p:txBody>
          <a:bodyPr wrap="square" rtlCol="0" anchor="ctr"/>
          <a:lstStyle/>
          <a:p>
            <a:pPr marL="0" indent="0">
              <a:buNone/>
            </a:pPr>
            <a:r>
              <a:rPr lang="en-US" sz="1700" b="1" dirty="0">
                <a:solidFill>
                  <a:srgbClr val="16213A"/>
                </a:solidFill>
                <a:latin typeface="Cambria" pitchFamily="34" charset="0"/>
                <a:ea typeface="Cambria" pitchFamily="34" charset="-122"/>
                <a:cs typeface="Cambria" pitchFamily="34" charset="-120"/>
              </a:rPr>
              <a:t>Report</a:t>
            </a:r>
            <a:endParaRPr lang="en-US" sz="1700" dirty="0"/>
          </a:p>
        </p:txBody>
      </p:sp>
      <p:sp>
        <p:nvSpPr>
          <p:cNvPr id="33" name="Text 31"/>
          <p:cNvSpPr/>
          <p:nvPr/>
        </p:nvSpPr>
        <p:spPr>
          <a:xfrm>
            <a:off x="8394192" y="5349240"/>
            <a:ext cx="2980944" cy="777240"/>
          </a:xfrm>
          <a:prstGeom prst="rect">
            <a:avLst/>
          </a:prstGeom>
          <a:noFill/>
          <a:ln/>
        </p:spPr>
        <p:txBody>
          <a:bodyPr wrap="square" rtlCol="0" anchor="ctr"/>
          <a:lstStyle/>
          <a:p>
            <a:pPr marL="0" indent="0">
              <a:lnSpc>
                <a:spcPct val="125000"/>
              </a:lnSpc>
              <a:buNone/>
            </a:pPr>
            <a:r>
              <a:rPr lang="en-US" sz="1150" dirty="0">
                <a:solidFill>
                  <a:srgbClr val="5B6B85"/>
                </a:solidFill>
                <a:latin typeface="Calibri" pitchFamily="34" charset="0"/>
                <a:ea typeface="Calibri" pitchFamily="34" charset="-122"/>
                <a:cs typeface="Calibri" pitchFamily="34" charset="-120"/>
              </a:rPr>
              <a:t>Generate a downloadable PDF record of every assessment for review.</a:t>
            </a:r>
            <a:endParaRPr lang="en-US" sz="1150" dirty="0"/>
          </a:p>
        </p:txBody>
      </p:sp>
      <p:sp>
        <p:nvSpPr>
          <p:cNvPr id="34" name="Text 32"/>
          <p:cNvSpPr/>
          <p:nvPr/>
        </p:nvSpPr>
        <p:spPr>
          <a:xfrm>
            <a:off x="457200" y="6510528"/>
            <a:ext cx="7315200" cy="274320"/>
          </a:xfrm>
          <a:prstGeom prst="rect">
            <a:avLst/>
          </a:prstGeom>
          <a:noFill/>
          <a:ln/>
        </p:spPr>
        <p:txBody>
          <a:bodyPr wrap="square" rtlCol="0" anchor="ctr"/>
          <a:lstStyle/>
          <a:p>
            <a:pPr marL="0" indent="0" algn="l">
              <a:buNone/>
            </a:pPr>
            <a:r>
              <a:rPr lang="en-US" sz="900" dirty="0">
                <a:solidFill>
                  <a:srgbClr val="5B6B85"/>
                </a:solidFill>
                <a:latin typeface="Calibri" pitchFamily="34" charset="0"/>
                <a:ea typeface="Calibri" pitchFamily="34" charset="-122"/>
                <a:cs typeface="Calibri" pitchFamily="34" charset="-120"/>
              </a:rPr>
              <a:t>AI Linux Security Assistant</a:t>
            </a:r>
            <a:endParaRPr lang="en-US" sz="900" dirty="0"/>
          </a:p>
        </p:txBody>
      </p:sp>
      <p:sp>
        <p:nvSpPr>
          <p:cNvPr id="35" name="Text 33"/>
          <p:cNvSpPr/>
          <p:nvPr/>
        </p:nvSpPr>
        <p:spPr>
          <a:xfrm>
            <a:off x="11247120" y="6510528"/>
            <a:ext cx="457200" cy="274320"/>
          </a:xfrm>
          <a:prstGeom prst="rect">
            <a:avLst/>
          </a:prstGeom>
          <a:noFill/>
          <a:ln/>
        </p:spPr>
        <p:txBody>
          <a:bodyPr wrap="square" rtlCol="0" anchor="ctr"/>
          <a:lstStyle/>
          <a:p>
            <a:pPr marL="0" indent="0" algn="r">
              <a:buNone/>
            </a:pPr>
            <a:r>
              <a:rPr lang="en-US" sz="900" dirty="0">
                <a:solidFill>
                  <a:srgbClr val="5B6B85"/>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50" b="1" kern="0" spc="200" dirty="0">
                <a:solidFill>
                  <a:srgbClr val="17607D"/>
                </a:solidFill>
                <a:latin typeface="Calibri" pitchFamily="34" charset="0"/>
                <a:ea typeface="Calibri" pitchFamily="34" charset="-122"/>
                <a:cs typeface="Calibri" pitchFamily="34" charset="-120"/>
              </a:rPr>
              <a:t>SYSTEM DESIGN</a:t>
            </a:r>
            <a:endParaRPr lang="en-US" sz="1250" dirty="0"/>
          </a:p>
        </p:txBody>
      </p:sp>
      <p:sp>
        <p:nvSpPr>
          <p:cNvPr id="3" name="Text 1"/>
          <p:cNvSpPr/>
          <p:nvPr/>
        </p:nvSpPr>
        <p:spPr>
          <a:xfrm>
            <a:off x="548640" y="685800"/>
            <a:ext cx="10789920" cy="731520"/>
          </a:xfrm>
          <a:prstGeom prst="rect">
            <a:avLst/>
          </a:prstGeom>
          <a:noFill/>
          <a:ln/>
        </p:spPr>
        <p:txBody>
          <a:bodyPr wrap="square" rtlCol="0" anchor="ctr"/>
          <a:lstStyle/>
          <a:p>
            <a:pPr marL="0" indent="0">
              <a:buNone/>
            </a:pPr>
            <a:r>
              <a:rPr lang="en-US" sz="3000" b="1" dirty="0">
                <a:solidFill>
                  <a:srgbClr val="16213A"/>
                </a:solidFill>
                <a:latin typeface="Cambria" pitchFamily="34" charset="0"/>
                <a:ea typeface="Cambria" pitchFamily="34" charset="-122"/>
                <a:cs typeface="Cambria" pitchFamily="34" charset="-120"/>
              </a:rPr>
              <a:t>Modular Architecture &amp; ReAct Workflow</a:t>
            </a:r>
            <a:endParaRPr lang="en-US" sz="3000" dirty="0"/>
          </a:p>
        </p:txBody>
      </p:sp>
      <p:pic>
        <p:nvPicPr>
          <p:cNvPr id="4" name="Image 0" descr="images/architecture.png"/>
          <p:cNvPicPr>
            <a:picLocks noChangeAspect="1"/>
          </p:cNvPicPr>
          <p:nvPr/>
        </p:nvPicPr>
        <p:blipFill>
          <a:blip r:embed="rId3"/>
          <a:stretch>
            <a:fillRect/>
          </a:stretch>
        </p:blipFill>
        <p:spPr>
          <a:xfrm>
            <a:off x="548640" y="1645920"/>
            <a:ext cx="6858000" cy="3886200"/>
          </a:xfrm>
          <a:prstGeom prst="rect">
            <a:avLst/>
          </a:prstGeom>
        </p:spPr>
      </p:pic>
      <p:sp>
        <p:nvSpPr>
          <p:cNvPr id="5" name="Shape 2"/>
          <p:cNvSpPr/>
          <p:nvPr/>
        </p:nvSpPr>
        <p:spPr>
          <a:xfrm>
            <a:off x="7635240" y="1645920"/>
            <a:ext cx="3977640" cy="3886200"/>
          </a:xfrm>
          <a:prstGeom prst="roundRect">
            <a:avLst>
              <a:gd name="adj" fmla="val 2353"/>
            </a:avLst>
          </a:prstGeom>
          <a:solidFill>
            <a:srgbClr val="0F1B33"/>
          </a:solidFill>
          <a:ln/>
        </p:spPr>
      </p:sp>
      <p:sp>
        <p:nvSpPr>
          <p:cNvPr id="6" name="Text 3"/>
          <p:cNvSpPr/>
          <p:nvPr/>
        </p:nvSpPr>
        <p:spPr>
          <a:xfrm>
            <a:off x="7909560" y="1828800"/>
            <a:ext cx="3474720" cy="274320"/>
          </a:xfrm>
          <a:prstGeom prst="rect">
            <a:avLst/>
          </a:prstGeom>
          <a:noFill/>
          <a:ln/>
        </p:spPr>
        <p:txBody>
          <a:bodyPr wrap="square" rtlCol="0" anchor="ctr"/>
          <a:lstStyle/>
          <a:p>
            <a:pPr marL="0" indent="0">
              <a:buNone/>
            </a:pPr>
            <a:r>
              <a:rPr lang="en-US" sz="1100" b="1" kern="0" spc="150" dirty="0">
                <a:solidFill>
                  <a:srgbClr val="27E1C1"/>
                </a:solidFill>
                <a:latin typeface="Calibri" pitchFamily="34" charset="0"/>
                <a:ea typeface="Calibri" pitchFamily="34" charset="-122"/>
                <a:cs typeface="Calibri" pitchFamily="34" charset="-120"/>
              </a:rPr>
              <a:t>REACT REASONING LOOP</a:t>
            </a:r>
            <a:endParaRPr lang="en-US" sz="1100" dirty="0"/>
          </a:p>
        </p:txBody>
      </p:sp>
      <p:sp>
        <p:nvSpPr>
          <p:cNvPr id="7" name="Text 4"/>
          <p:cNvSpPr/>
          <p:nvPr/>
        </p:nvSpPr>
        <p:spPr>
          <a:xfrm>
            <a:off x="7909560" y="2212848"/>
            <a:ext cx="365760" cy="365760"/>
          </a:xfrm>
          <a:prstGeom prst="rect">
            <a:avLst/>
          </a:prstGeom>
          <a:noFill/>
          <a:ln/>
        </p:spPr>
        <p:txBody>
          <a:bodyPr wrap="square" rtlCol="0" anchor="ctr"/>
          <a:lstStyle/>
          <a:p>
            <a:pPr marL="0" indent="0">
              <a:buNone/>
            </a:pPr>
            <a:r>
              <a:rPr lang="en-US" sz="1300" b="1" dirty="0">
                <a:solidFill>
                  <a:srgbClr val="27E1C1"/>
                </a:solidFill>
                <a:latin typeface="Calibri" pitchFamily="34" charset="0"/>
                <a:ea typeface="Calibri" pitchFamily="34" charset="-122"/>
                <a:cs typeface="Calibri" pitchFamily="34" charset="-120"/>
              </a:rPr>
              <a:t>1</a:t>
            </a:r>
            <a:endParaRPr lang="en-US" sz="1300" dirty="0"/>
          </a:p>
        </p:txBody>
      </p:sp>
      <p:sp>
        <p:nvSpPr>
          <p:cNvPr id="8" name="Text 5"/>
          <p:cNvSpPr/>
          <p:nvPr/>
        </p:nvSpPr>
        <p:spPr>
          <a:xfrm>
            <a:off x="8275320" y="2167128"/>
            <a:ext cx="3200400" cy="594360"/>
          </a:xfrm>
          <a:prstGeom prst="rect">
            <a:avLst/>
          </a:prstGeom>
          <a:noFill/>
          <a:ln/>
        </p:spPr>
        <p:txBody>
          <a:bodyPr wrap="square" rtlCol="0" anchor="ctr"/>
          <a:lstStyle/>
          <a:p>
            <a:pPr marL="0" indent="0">
              <a:lnSpc>
                <a:spcPct val="115000"/>
              </a:lnSpc>
              <a:buNone/>
            </a:pPr>
            <a:r>
              <a:rPr lang="en-US" sz="1250" b="1" dirty="0">
                <a:solidFill>
                  <a:srgbClr val="FFFFFF"/>
                </a:solidFill>
                <a:latin typeface="Calibri" pitchFamily="34" charset="0"/>
                <a:ea typeface="Calibri" pitchFamily="34" charset="-122"/>
                <a:cs typeface="Calibri" pitchFamily="34" charset="-120"/>
              </a:rPr>
              <a:t>Thought  </a:t>
            </a:r>
            <a:r>
              <a:rPr lang="en-US" sz="1100" dirty="0">
                <a:solidFill>
                  <a:srgbClr val="BCC7E2"/>
                </a:solidFill>
                <a:latin typeface="Calibri" pitchFamily="34" charset="0"/>
                <a:ea typeface="Calibri" pitchFamily="34" charset="-122"/>
                <a:cs typeface="Calibri" pitchFamily="34" charset="-120"/>
              </a:rPr>
              <a:t>Identify whether input is a command, output, or permission string.</a:t>
            </a:r>
            <a:endParaRPr lang="en-US" sz="1250" dirty="0"/>
          </a:p>
        </p:txBody>
      </p:sp>
      <p:sp>
        <p:nvSpPr>
          <p:cNvPr id="9" name="Text 6"/>
          <p:cNvSpPr/>
          <p:nvPr/>
        </p:nvSpPr>
        <p:spPr>
          <a:xfrm>
            <a:off x="7909560" y="2871216"/>
            <a:ext cx="365760" cy="365760"/>
          </a:xfrm>
          <a:prstGeom prst="rect">
            <a:avLst/>
          </a:prstGeom>
          <a:noFill/>
          <a:ln/>
        </p:spPr>
        <p:txBody>
          <a:bodyPr wrap="square" rtlCol="0" anchor="ctr"/>
          <a:lstStyle/>
          <a:p>
            <a:pPr marL="0" indent="0">
              <a:buNone/>
            </a:pPr>
            <a:r>
              <a:rPr lang="en-US" sz="1300" b="1" dirty="0">
                <a:solidFill>
                  <a:srgbClr val="27E1C1"/>
                </a:solidFill>
                <a:latin typeface="Calibri" pitchFamily="34" charset="0"/>
                <a:ea typeface="Calibri" pitchFamily="34" charset="-122"/>
                <a:cs typeface="Calibri" pitchFamily="34" charset="-120"/>
              </a:rPr>
              <a:t>2</a:t>
            </a:r>
            <a:endParaRPr lang="en-US" sz="1300" dirty="0"/>
          </a:p>
        </p:txBody>
      </p:sp>
      <p:sp>
        <p:nvSpPr>
          <p:cNvPr id="10" name="Text 7"/>
          <p:cNvSpPr/>
          <p:nvPr/>
        </p:nvSpPr>
        <p:spPr>
          <a:xfrm>
            <a:off x="8275320" y="2825496"/>
            <a:ext cx="3200400" cy="594360"/>
          </a:xfrm>
          <a:prstGeom prst="rect">
            <a:avLst/>
          </a:prstGeom>
          <a:noFill/>
          <a:ln/>
        </p:spPr>
        <p:txBody>
          <a:bodyPr wrap="square" rtlCol="0" anchor="ctr"/>
          <a:lstStyle/>
          <a:p>
            <a:pPr marL="0" indent="0">
              <a:lnSpc>
                <a:spcPct val="115000"/>
              </a:lnSpc>
              <a:buNone/>
            </a:pPr>
            <a:r>
              <a:rPr lang="en-US" sz="1250" b="1" dirty="0">
                <a:solidFill>
                  <a:srgbClr val="FFFFFF"/>
                </a:solidFill>
                <a:latin typeface="Calibri" pitchFamily="34" charset="0"/>
                <a:ea typeface="Calibri" pitchFamily="34" charset="-122"/>
                <a:cs typeface="Calibri" pitchFamily="34" charset="-120"/>
              </a:rPr>
              <a:t>Action  </a:t>
            </a:r>
            <a:r>
              <a:rPr lang="en-US" sz="1100" dirty="0">
                <a:solidFill>
                  <a:srgbClr val="BCC7E2"/>
                </a:solidFill>
                <a:latin typeface="Calibri" pitchFamily="34" charset="0"/>
                <a:ea typeface="Calibri" pitchFamily="34" charset="-122"/>
                <a:cs typeface="Calibri" pitchFamily="34" charset="-120"/>
              </a:rPr>
              <a:t>Call the matching tool: Command Parser or Permission Analyzer.</a:t>
            </a:r>
            <a:endParaRPr lang="en-US" sz="1250" dirty="0"/>
          </a:p>
        </p:txBody>
      </p:sp>
      <p:sp>
        <p:nvSpPr>
          <p:cNvPr id="11" name="Text 8"/>
          <p:cNvSpPr/>
          <p:nvPr/>
        </p:nvSpPr>
        <p:spPr>
          <a:xfrm>
            <a:off x="7909560" y="3529584"/>
            <a:ext cx="365760" cy="365760"/>
          </a:xfrm>
          <a:prstGeom prst="rect">
            <a:avLst/>
          </a:prstGeom>
          <a:noFill/>
          <a:ln/>
        </p:spPr>
        <p:txBody>
          <a:bodyPr wrap="square" rtlCol="0" anchor="ctr"/>
          <a:lstStyle/>
          <a:p>
            <a:pPr marL="0" indent="0">
              <a:buNone/>
            </a:pPr>
            <a:r>
              <a:rPr lang="en-US" sz="1300" b="1" dirty="0">
                <a:solidFill>
                  <a:srgbClr val="27E1C1"/>
                </a:solidFill>
                <a:latin typeface="Calibri" pitchFamily="34" charset="0"/>
                <a:ea typeface="Calibri" pitchFamily="34" charset="-122"/>
                <a:cs typeface="Calibri" pitchFamily="34" charset="-120"/>
              </a:rPr>
              <a:t>3</a:t>
            </a:r>
            <a:endParaRPr lang="en-US" sz="1300" dirty="0"/>
          </a:p>
        </p:txBody>
      </p:sp>
      <p:sp>
        <p:nvSpPr>
          <p:cNvPr id="12" name="Text 9"/>
          <p:cNvSpPr/>
          <p:nvPr/>
        </p:nvSpPr>
        <p:spPr>
          <a:xfrm>
            <a:off x="8275320" y="3483864"/>
            <a:ext cx="3200400" cy="594360"/>
          </a:xfrm>
          <a:prstGeom prst="rect">
            <a:avLst/>
          </a:prstGeom>
          <a:noFill/>
          <a:ln/>
        </p:spPr>
        <p:txBody>
          <a:bodyPr wrap="square" rtlCol="0" anchor="ctr"/>
          <a:lstStyle/>
          <a:p>
            <a:pPr marL="0" indent="0">
              <a:lnSpc>
                <a:spcPct val="115000"/>
              </a:lnSpc>
              <a:buNone/>
            </a:pPr>
            <a:r>
              <a:rPr lang="en-US" sz="1250" b="1" dirty="0">
                <a:solidFill>
                  <a:srgbClr val="FFFFFF"/>
                </a:solidFill>
                <a:latin typeface="Calibri" pitchFamily="34" charset="0"/>
                <a:ea typeface="Calibri" pitchFamily="34" charset="-122"/>
                <a:cs typeface="Calibri" pitchFamily="34" charset="-120"/>
              </a:rPr>
              <a:t>Observation  </a:t>
            </a:r>
            <a:r>
              <a:rPr lang="en-US" sz="1100" dirty="0">
                <a:solidFill>
                  <a:srgbClr val="BCC7E2"/>
                </a:solidFill>
                <a:latin typeface="Calibri" pitchFamily="34" charset="0"/>
                <a:ea typeface="Calibri" pitchFamily="34" charset="-122"/>
                <a:cs typeface="Calibri" pitchFamily="34" charset="-120"/>
              </a:rPr>
              <a:t>Collect structured findings and an initial risk rating.</a:t>
            </a:r>
            <a:endParaRPr lang="en-US" sz="1250" dirty="0"/>
          </a:p>
        </p:txBody>
      </p:sp>
      <p:sp>
        <p:nvSpPr>
          <p:cNvPr id="13" name="Text 10"/>
          <p:cNvSpPr/>
          <p:nvPr/>
        </p:nvSpPr>
        <p:spPr>
          <a:xfrm>
            <a:off x="7909560" y="4187952"/>
            <a:ext cx="365760" cy="365760"/>
          </a:xfrm>
          <a:prstGeom prst="rect">
            <a:avLst/>
          </a:prstGeom>
          <a:noFill/>
          <a:ln/>
        </p:spPr>
        <p:txBody>
          <a:bodyPr wrap="square" rtlCol="0" anchor="ctr"/>
          <a:lstStyle/>
          <a:p>
            <a:pPr marL="0" indent="0">
              <a:buNone/>
            </a:pPr>
            <a:r>
              <a:rPr lang="en-US" sz="1300" b="1" dirty="0">
                <a:solidFill>
                  <a:srgbClr val="27E1C1"/>
                </a:solidFill>
                <a:latin typeface="Calibri" pitchFamily="34" charset="0"/>
                <a:ea typeface="Calibri" pitchFamily="34" charset="-122"/>
                <a:cs typeface="Calibri" pitchFamily="34" charset="-120"/>
              </a:rPr>
              <a:t>4</a:t>
            </a:r>
            <a:endParaRPr lang="en-US" sz="1300" dirty="0"/>
          </a:p>
        </p:txBody>
      </p:sp>
      <p:sp>
        <p:nvSpPr>
          <p:cNvPr id="14" name="Text 11"/>
          <p:cNvSpPr/>
          <p:nvPr/>
        </p:nvSpPr>
        <p:spPr>
          <a:xfrm>
            <a:off x="8275320" y="4142232"/>
            <a:ext cx="3200400" cy="594360"/>
          </a:xfrm>
          <a:prstGeom prst="rect">
            <a:avLst/>
          </a:prstGeom>
          <a:noFill/>
          <a:ln/>
        </p:spPr>
        <p:txBody>
          <a:bodyPr wrap="square" rtlCol="0" anchor="ctr"/>
          <a:lstStyle/>
          <a:p>
            <a:pPr marL="0" indent="0">
              <a:lnSpc>
                <a:spcPct val="115000"/>
              </a:lnSpc>
              <a:buNone/>
            </a:pPr>
            <a:r>
              <a:rPr lang="en-US" sz="1250" b="1" dirty="0">
                <a:solidFill>
                  <a:srgbClr val="FFFFFF"/>
                </a:solidFill>
                <a:latin typeface="Calibri" pitchFamily="34" charset="0"/>
                <a:ea typeface="Calibri" pitchFamily="34" charset="-122"/>
                <a:cs typeface="Calibri" pitchFamily="34" charset="-120"/>
              </a:rPr>
              <a:t>Action  </a:t>
            </a:r>
            <a:r>
              <a:rPr lang="en-US" sz="1100" dirty="0">
                <a:solidFill>
                  <a:srgbClr val="BCC7E2"/>
                </a:solidFill>
                <a:latin typeface="Calibri" pitchFamily="34" charset="0"/>
                <a:ea typeface="Calibri" pitchFamily="34" charset="-122"/>
                <a:cs typeface="Calibri" pitchFamily="34" charset="-120"/>
              </a:rPr>
              <a:t>Run Hardening &amp; Security Command Suggestion tools.</a:t>
            </a:r>
            <a:endParaRPr lang="en-US" sz="1250" dirty="0"/>
          </a:p>
        </p:txBody>
      </p:sp>
      <p:sp>
        <p:nvSpPr>
          <p:cNvPr id="15" name="Text 12"/>
          <p:cNvSpPr/>
          <p:nvPr/>
        </p:nvSpPr>
        <p:spPr>
          <a:xfrm>
            <a:off x="7909560" y="4846320"/>
            <a:ext cx="365760" cy="365760"/>
          </a:xfrm>
          <a:prstGeom prst="rect">
            <a:avLst/>
          </a:prstGeom>
          <a:noFill/>
          <a:ln/>
        </p:spPr>
        <p:txBody>
          <a:bodyPr wrap="square" rtlCol="0" anchor="ctr"/>
          <a:lstStyle/>
          <a:p>
            <a:pPr marL="0" indent="0">
              <a:buNone/>
            </a:pPr>
            <a:r>
              <a:rPr lang="en-US" sz="1300" b="1" dirty="0">
                <a:solidFill>
                  <a:srgbClr val="27E1C1"/>
                </a:solidFill>
                <a:latin typeface="Calibri" pitchFamily="34" charset="0"/>
                <a:ea typeface="Calibri" pitchFamily="34" charset="-122"/>
                <a:cs typeface="Calibri" pitchFamily="34" charset="-120"/>
              </a:rPr>
              <a:t>5</a:t>
            </a:r>
            <a:endParaRPr lang="en-US" sz="1300" dirty="0"/>
          </a:p>
        </p:txBody>
      </p:sp>
      <p:sp>
        <p:nvSpPr>
          <p:cNvPr id="16" name="Text 13"/>
          <p:cNvSpPr/>
          <p:nvPr/>
        </p:nvSpPr>
        <p:spPr>
          <a:xfrm>
            <a:off x="8275320" y="4800600"/>
            <a:ext cx="3200400" cy="594360"/>
          </a:xfrm>
          <a:prstGeom prst="rect">
            <a:avLst/>
          </a:prstGeom>
          <a:noFill/>
          <a:ln/>
        </p:spPr>
        <p:txBody>
          <a:bodyPr wrap="square" rtlCol="0" anchor="ctr"/>
          <a:lstStyle/>
          <a:p>
            <a:pPr marL="0" indent="0">
              <a:lnSpc>
                <a:spcPct val="115000"/>
              </a:lnSpc>
              <a:buNone/>
            </a:pPr>
            <a:r>
              <a:rPr lang="en-US" sz="1250" b="1" dirty="0">
                <a:solidFill>
                  <a:srgbClr val="FFFFFF"/>
                </a:solidFill>
                <a:latin typeface="Calibri" pitchFamily="34" charset="0"/>
                <a:ea typeface="Calibri" pitchFamily="34" charset="-122"/>
                <a:cs typeface="Calibri" pitchFamily="34" charset="-120"/>
              </a:rPr>
              <a:t>Result  </a:t>
            </a:r>
            <a:r>
              <a:rPr lang="en-US" sz="1100" dirty="0">
                <a:solidFill>
                  <a:srgbClr val="BCC7E2"/>
                </a:solidFill>
                <a:latin typeface="Calibri" pitchFamily="34" charset="0"/>
                <a:ea typeface="Calibri" pitchFamily="34" charset="-122"/>
                <a:cs typeface="Calibri" pitchFamily="34" charset="-120"/>
              </a:rPr>
              <a:t>Agent aggregates a security score and renders the report.</a:t>
            </a:r>
            <a:endParaRPr lang="en-US" sz="1250" dirty="0"/>
          </a:p>
        </p:txBody>
      </p:sp>
      <p:sp>
        <p:nvSpPr>
          <p:cNvPr id="17" name="Text 14"/>
          <p:cNvSpPr/>
          <p:nvPr/>
        </p:nvSpPr>
        <p:spPr>
          <a:xfrm>
            <a:off x="457200" y="6510528"/>
            <a:ext cx="7315200" cy="274320"/>
          </a:xfrm>
          <a:prstGeom prst="rect">
            <a:avLst/>
          </a:prstGeom>
          <a:noFill/>
          <a:ln/>
        </p:spPr>
        <p:txBody>
          <a:bodyPr wrap="square" rtlCol="0" anchor="ctr"/>
          <a:lstStyle/>
          <a:p>
            <a:pPr marL="0" indent="0" algn="l">
              <a:buNone/>
            </a:pPr>
            <a:r>
              <a:rPr lang="en-US" sz="900" dirty="0">
                <a:solidFill>
                  <a:srgbClr val="5B6B85"/>
                </a:solidFill>
                <a:latin typeface="Calibri" pitchFamily="34" charset="0"/>
                <a:ea typeface="Calibri" pitchFamily="34" charset="-122"/>
                <a:cs typeface="Calibri" pitchFamily="34" charset="-120"/>
              </a:rPr>
              <a:t>AI Linux Security Assistant</a:t>
            </a:r>
            <a:endParaRPr lang="en-US" sz="900" dirty="0"/>
          </a:p>
        </p:txBody>
      </p:sp>
      <p:sp>
        <p:nvSpPr>
          <p:cNvPr id="18" name="Text 15"/>
          <p:cNvSpPr/>
          <p:nvPr/>
        </p:nvSpPr>
        <p:spPr>
          <a:xfrm>
            <a:off x="11247120" y="6510528"/>
            <a:ext cx="457200" cy="274320"/>
          </a:xfrm>
          <a:prstGeom prst="rect">
            <a:avLst/>
          </a:prstGeom>
          <a:noFill/>
          <a:ln/>
        </p:spPr>
        <p:txBody>
          <a:bodyPr wrap="square" rtlCol="0" anchor="ctr"/>
          <a:lstStyle/>
          <a:p>
            <a:pPr marL="0" indent="0" algn="r">
              <a:buNone/>
            </a:pPr>
            <a:r>
              <a:rPr lang="en-US" sz="900" dirty="0">
                <a:solidFill>
                  <a:srgbClr val="5B6B85"/>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50" b="1" kern="0" spc="200" dirty="0">
                <a:solidFill>
                  <a:srgbClr val="17607D"/>
                </a:solidFill>
                <a:latin typeface="Calibri" pitchFamily="34" charset="0"/>
                <a:ea typeface="Calibri" pitchFamily="34" charset="-122"/>
                <a:cs typeface="Calibri" pitchFamily="34" charset="-120"/>
              </a:rPr>
              <a:t>TECHNOLOGY STACK</a:t>
            </a:r>
            <a:endParaRPr lang="en-US" sz="1250" dirty="0"/>
          </a:p>
        </p:txBody>
      </p:sp>
      <p:sp>
        <p:nvSpPr>
          <p:cNvPr id="3" name="Text 1"/>
          <p:cNvSpPr/>
          <p:nvPr/>
        </p:nvSpPr>
        <p:spPr>
          <a:xfrm>
            <a:off x="548640" y="685800"/>
            <a:ext cx="10789920" cy="731520"/>
          </a:xfrm>
          <a:prstGeom prst="rect">
            <a:avLst/>
          </a:prstGeom>
          <a:noFill/>
          <a:ln/>
        </p:spPr>
        <p:txBody>
          <a:bodyPr wrap="square" rtlCol="0" anchor="ctr"/>
          <a:lstStyle/>
          <a:p>
            <a:pPr marL="0" indent="0">
              <a:buNone/>
            </a:pPr>
            <a:r>
              <a:rPr lang="en-US" sz="3000" b="1" dirty="0">
                <a:solidFill>
                  <a:srgbClr val="16213A"/>
                </a:solidFill>
                <a:latin typeface="Cambria" pitchFamily="34" charset="0"/>
                <a:ea typeface="Cambria" pitchFamily="34" charset="-122"/>
                <a:cs typeface="Cambria" pitchFamily="34" charset="-120"/>
              </a:rPr>
              <a:t>Built with a Lightweight, Free &amp; Open-Source Stack</a:t>
            </a:r>
            <a:endParaRPr lang="en-US" sz="3000" dirty="0"/>
          </a:p>
        </p:txBody>
      </p:sp>
      <p:sp>
        <p:nvSpPr>
          <p:cNvPr id="4" name="Shape 2"/>
          <p:cNvSpPr/>
          <p:nvPr/>
        </p:nvSpPr>
        <p:spPr>
          <a:xfrm>
            <a:off x="548640" y="1783080"/>
            <a:ext cx="3529584" cy="1417320"/>
          </a:xfrm>
          <a:prstGeom prst="roundRect">
            <a:avLst>
              <a:gd name="adj" fmla="val 5806"/>
            </a:avLst>
          </a:prstGeom>
          <a:solidFill>
            <a:srgbClr val="FFFFFF"/>
          </a:solidFill>
          <a:ln w="15875">
            <a:solidFill>
              <a:srgbClr val="E1E7F0"/>
            </a:solidFill>
            <a:prstDash val="solid"/>
          </a:ln>
        </p:spPr>
      </p:sp>
      <p:sp>
        <p:nvSpPr>
          <p:cNvPr id="5" name="Shape 3"/>
          <p:cNvSpPr/>
          <p:nvPr/>
        </p:nvSpPr>
        <p:spPr>
          <a:xfrm>
            <a:off x="548640" y="1783080"/>
            <a:ext cx="82296" cy="1417320"/>
          </a:xfrm>
          <a:prstGeom prst="rect">
            <a:avLst/>
          </a:prstGeom>
          <a:solidFill>
            <a:srgbClr val="17607D"/>
          </a:solidFill>
          <a:ln/>
        </p:spPr>
      </p:sp>
      <p:sp>
        <p:nvSpPr>
          <p:cNvPr id="6" name="Text 4"/>
          <p:cNvSpPr/>
          <p:nvPr/>
        </p:nvSpPr>
        <p:spPr>
          <a:xfrm>
            <a:off x="868680" y="1965960"/>
            <a:ext cx="2980944" cy="365760"/>
          </a:xfrm>
          <a:prstGeom prst="rect">
            <a:avLst/>
          </a:prstGeom>
          <a:noFill/>
          <a:ln/>
        </p:spPr>
        <p:txBody>
          <a:bodyPr wrap="square" rtlCol="0" anchor="ctr"/>
          <a:lstStyle/>
          <a:p>
            <a:pPr marL="0" indent="0">
              <a:buNone/>
            </a:pPr>
            <a:r>
              <a:rPr lang="en-US" sz="1550" b="1" dirty="0">
                <a:solidFill>
                  <a:srgbClr val="16213A"/>
                </a:solidFill>
                <a:latin typeface="Cambria" pitchFamily="34" charset="0"/>
                <a:ea typeface="Cambria" pitchFamily="34" charset="-122"/>
                <a:cs typeface="Cambria" pitchFamily="34" charset="-120"/>
              </a:rPr>
              <a:t>Python 3.11+</a:t>
            </a:r>
            <a:endParaRPr lang="en-US" sz="1550" dirty="0"/>
          </a:p>
        </p:txBody>
      </p:sp>
      <p:sp>
        <p:nvSpPr>
          <p:cNvPr id="7" name="Text 5"/>
          <p:cNvSpPr/>
          <p:nvPr/>
        </p:nvSpPr>
        <p:spPr>
          <a:xfrm>
            <a:off x="868680" y="2350008"/>
            <a:ext cx="2980944" cy="731520"/>
          </a:xfrm>
          <a:prstGeom prst="rect">
            <a:avLst/>
          </a:prstGeom>
          <a:noFill/>
          <a:ln/>
        </p:spPr>
        <p:txBody>
          <a:bodyPr wrap="square" rtlCol="0" anchor="ctr"/>
          <a:lstStyle/>
          <a:p>
            <a:pPr marL="0" indent="0">
              <a:lnSpc>
                <a:spcPct val="120000"/>
              </a:lnSpc>
              <a:buNone/>
            </a:pPr>
            <a:r>
              <a:rPr lang="en-US" sz="1100" dirty="0">
                <a:solidFill>
                  <a:srgbClr val="5B6B85"/>
                </a:solidFill>
                <a:latin typeface="Calibri" pitchFamily="34" charset="0"/>
                <a:ea typeface="Calibri" pitchFamily="34" charset="-122"/>
                <a:cs typeface="Calibri" pitchFamily="34" charset="-120"/>
              </a:rPr>
              <a:t>Core language for parsing, rules &amp; orchestration</a:t>
            </a:r>
            <a:endParaRPr lang="en-US" sz="1100" dirty="0"/>
          </a:p>
        </p:txBody>
      </p:sp>
      <p:sp>
        <p:nvSpPr>
          <p:cNvPr id="8" name="Shape 6"/>
          <p:cNvSpPr/>
          <p:nvPr/>
        </p:nvSpPr>
        <p:spPr>
          <a:xfrm>
            <a:off x="4334256" y="1783080"/>
            <a:ext cx="3529584" cy="1417320"/>
          </a:xfrm>
          <a:prstGeom prst="roundRect">
            <a:avLst>
              <a:gd name="adj" fmla="val 5806"/>
            </a:avLst>
          </a:prstGeom>
          <a:solidFill>
            <a:srgbClr val="FFFFFF"/>
          </a:solidFill>
          <a:ln w="15875">
            <a:solidFill>
              <a:srgbClr val="E1E7F0"/>
            </a:solidFill>
            <a:prstDash val="solid"/>
          </a:ln>
        </p:spPr>
      </p:sp>
      <p:sp>
        <p:nvSpPr>
          <p:cNvPr id="9" name="Shape 7"/>
          <p:cNvSpPr/>
          <p:nvPr/>
        </p:nvSpPr>
        <p:spPr>
          <a:xfrm>
            <a:off x="4334256" y="1783080"/>
            <a:ext cx="82296" cy="1417320"/>
          </a:xfrm>
          <a:prstGeom prst="rect">
            <a:avLst/>
          </a:prstGeom>
          <a:solidFill>
            <a:srgbClr val="17607D"/>
          </a:solidFill>
          <a:ln/>
        </p:spPr>
      </p:sp>
      <p:sp>
        <p:nvSpPr>
          <p:cNvPr id="10" name="Text 8"/>
          <p:cNvSpPr/>
          <p:nvPr/>
        </p:nvSpPr>
        <p:spPr>
          <a:xfrm>
            <a:off x="4654296" y="1965960"/>
            <a:ext cx="2980944" cy="365760"/>
          </a:xfrm>
          <a:prstGeom prst="rect">
            <a:avLst/>
          </a:prstGeom>
          <a:noFill/>
          <a:ln/>
        </p:spPr>
        <p:txBody>
          <a:bodyPr wrap="square" rtlCol="0" anchor="ctr"/>
          <a:lstStyle/>
          <a:p>
            <a:pPr marL="0" indent="0">
              <a:buNone/>
            </a:pPr>
            <a:r>
              <a:rPr lang="en-US" sz="1550" b="1" dirty="0">
                <a:solidFill>
                  <a:srgbClr val="16213A"/>
                </a:solidFill>
                <a:latin typeface="Cambria" pitchFamily="34" charset="0"/>
                <a:ea typeface="Cambria" pitchFamily="34" charset="-122"/>
                <a:cs typeface="Cambria" pitchFamily="34" charset="-120"/>
              </a:rPr>
              <a:t>Streamlit</a:t>
            </a:r>
            <a:endParaRPr lang="en-US" sz="1550" dirty="0"/>
          </a:p>
        </p:txBody>
      </p:sp>
      <p:sp>
        <p:nvSpPr>
          <p:cNvPr id="11" name="Text 9"/>
          <p:cNvSpPr/>
          <p:nvPr/>
        </p:nvSpPr>
        <p:spPr>
          <a:xfrm>
            <a:off x="4654296" y="2350008"/>
            <a:ext cx="2980944" cy="731520"/>
          </a:xfrm>
          <a:prstGeom prst="rect">
            <a:avLst/>
          </a:prstGeom>
          <a:noFill/>
          <a:ln/>
        </p:spPr>
        <p:txBody>
          <a:bodyPr wrap="square" rtlCol="0" anchor="ctr"/>
          <a:lstStyle/>
          <a:p>
            <a:pPr marL="0" indent="0">
              <a:lnSpc>
                <a:spcPct val="120000"/>
              </a:lnSpc>
              <a:buNone/>
            </a:pPr>
            <a:r>
              <a:rPr lang="en-US" sz="1100" dirty="0">
                <a:solidFill>
                  <a:srgbClr val="5B6B85"/>
                </a:solidFill>
                <a:latin typeface="Calibri" pitchFamily="34" charset="0"/>
                <a:ea typeface="Calibri" pitchFamily="34" charset="-122"/>
                <a:cs typeface="Calibri" pitchFamily="34" charset="-120"/>
              </a:rPr>
              <a:t>Interactive local/web dashboard, zero front-end code</a:t>
            </a:r>
            <a:endParaRPr lang="en-US" sz="1100" dirty="0"/>
          </a:p>
        </p:txBody>
      </p:sp>
      <p:sp>
        <p:nvSpPr>
          <p:cNvPr id="12" name="Shape 10"/>
          <p:cNvSpPr/>
          <p:nvPr/>
        </p:nvSpPr>
        <p:spPr>
          <a:xfrm>
            <a:off x="8119872" y="1783080"/>
            <a:ext cx="3529584" cy="1417320"/>
          </a:xfrm>
          <a:prstGeom prst="roundRect">
            <a:avLst>
              <a:gd name="adj" fmla="val 5806"/>
            </a:avLst>
          </a:prstGeom>
          <a:solidFill>
            <a:srgbClr val="FFFFFF"/>
          </a:solidFill>
          <a:ln w="15875">
            <a:solidFill>
              <a:srgbClr val="E1E7F0"/>
            </a:solidFill>
            <a:prstDash val="solid"/>
          </a:ln>
        </p:spPr>
      </p:sp>
      <p:sp>
        <p:nvSpPr>
          <p:cNvPr id="13" name="Shape 11"/>
          <p:cNvSpPr/>
          <p:nvPr/>
        </p:nvSpPr>
        <p:spPr>
          <a:xfrm>
            <a:off x="8119872" y="1783080"/>
            <a:ext cx="82296" cy="1417320"/>
          </a:xfrm>
          <a:prstGeom prst="rect">
            <a:avLst/>
          </a:prstGeom>
          <a:solidFill>
            <a:srgbClr val="17607D"/>
          </a:solidFill>
          <a:ln/>
        </p:spPr>
      </p:sp>
      <p:sp>
        <p:nvSpPr>
          <p:cNvPr id="14" name="Text 12"/>
          <p:cNvSpPr/>
          <p:nvPr/>
        </p:nvSpPr>
        <p:spPr>
          <a:xfrm>
            <a:off x="8439912" y="1965960"/>
            <a:ext cx="2980944" cy="365760"/>
          </a:xfrm>
          <a:prstGeom prst="rect">
            <a:avLst/>
          </a:prstGeom>
          <a:noFill/>
          <a:ln/>
        </p:spPr>
        <p:txBody>
          <a:bodyPr wrap="square" rtlCol="0" anchor="ctr"/>
          <a:lstStyle/>
          <a:p>
            <a:pPr marL="0" indent="0">
              <a:buNone/>
            </a:pPr>
            <a:r>
              <a:rPr lang="en-US" sz="1550" b="1" dirty="0">
                <a:solidFill>
                  <a:srgbClr val="16213A"/>
                </a:solidFill>
                <a:latin typeface="Cambria" pitchFamily="34" charset="0"/>
                <a:ea typeface="Cambria" pitchFamily="34" charset="-122"/>
                <a:cs typeface="Cambria" pitchFamily="34" charset="-120"/>
              </a:rPr>
              <a:t>ReportLab</a:t>
            </a:r>
            <a:endParaRPr lang="en-US" sz="1550" dirty="0"/>
          </a:p>
        </p:txBody>
      </p:sp>
      <p:sp>
        <p:nvSpPr>
          <p:cNvPr id="15" name="Text 13"/>
          <p:cNvSpPr/>
          <p:nvPr/>
        </p:nvSpPr>
        <p:spPr>
          <a:xfrm>
            <a:off x="8439912" y="2350008"/>
            <a:ext cx="2980944" cy="731520"/>
          </a:xfrm>
          <a:prstGeom prst="rect">
            <a:avLst/>
          </a:prstGeom>
          <a:noFill/>
          <a:ln/>
        </p:spPr>
        <p:txBody>
          <a:bodyPr wrap="square" rtlCol="0" anchor="ctr"/>
          <a:lstStyle/>
          <a:p>
            <a:pPr marL="0" indent="0">
              <a:lnSpc>
                <a:spcPct val="120000"/>
              </a:lnSpc>
              <a:buNone/>
            </a:pPr>
            <a:r>
              <a:rPr lang="en-US" sz="1100" dirty="0">
                <a:solidFill>
                  <a:srgbClr val="5B6B85"/>
                </a:solidFill>
                <a:latin typeface="Calibri" pitchFamily="34" charset="0"/>
                <a:ea typeface="Calibri" pitchFamily="34" charset="-122"/>
                <a:cs typeface="Calibri" pitchFamily="34" charset="-120"/>
              </a:rPr>
              <a:t>Generates the downloadable PDF security report</a:t>
            </a:r>
            <a:endParaRPr lang="en-US" sz="1100" dirty="0"/>
          </a:p>
        </p:txBody>
      </p:sp>
      <p:sp>
        <p:nvSpPr>
          <p:cNvPr id="16" name="Shape 14"/>
          <p:cNvSpPr/>
          <p:nvPr/>
        </p:nvSpPr>
        <p:spPr>
          <a:xfrm>
            <a:off x="548640" y="3401568"/>
            <a:ext cx="3529584" cy="1417320"/>
          </a:xfrm>
          <a:prstGeom prst="roundRect">
            <a:avLst>
              <a:gd name="adj" fmla="val 5806"/>
            </a:avLst>
          </a:prstGeom>
          <a:solidFill>
            <a:srgbClr val="FFFFFF"/>
          </a:solidFill>
          <a:ln w="15875">
            <a:solidFill>
              <a:srgbClr val="E1E7F0"/>
            </a:solidFill>
            <a:prstDash val="solid"/>
          </a:ln>
        </p:spPr>
      </p:sp>
      <p:sp>
        <p:nvSpPr>
          <p:cNvPr id="17" name="Shape 15"/>
          <p:cNvSpPr/>
          <p:nvPr/>
        </p:nvSpPr>
        <p:spPr>
          <a:xfrm>
            <a:off x="548640" y="3401568"/>
            <a:ext cx="82296" cy="1417320"/>
          </a:xfrm>
          <a:prstGeom prst="rect">
            <a:avLst/>
          </a:prstGeom>
          <a:solidFill>
            <a:srgbClr val="17607D"/>
          </a:solidFill>
          <a:ln/>
        </p:spPr>
      </p:sp>
      <p:sp>
        <p:nvSpPr>
          <p:cNvPr id="18" name="Text 16"/>
          <p:cNvSpPr/>
          <p:nvPr/>
        </p:nvSpPr>
        <p:spPr>
          <a:xfrm>
            <a:off x="868680" y="3584448"/>
            <a:ext cx="2980944" cy="365760"/>
          </a:xfrm>
          <a:prstGeom prst="rect">
            <a:avLst/>
          </a:prstGeom>
          <a:noFill/>
          <a:ln/>
        </p:spPr>
        <p:txBody>
          <a:bodyPr wrap="square" rtlCol="0" anchor="ctr"/>
          <a:lstStyle/>
          <a:p>
            <a:pPr marL="0" indent="0">
              <a:buNone/>
            </a:pPr>
            <a:r>
              <a:rPr lang="en-US" sz="1550" b="1" dirty="0">
                <a:solidFill>
                  <a:srgbClr val="16213A"/>
                </a:solidFill>
                <a:latin typeface="Cambria" pitchFamily="34" charset="0"/>
                <a:ea typeface="Cambria" pitchFamily="34" charset="-122"/>
                <a:cs typeface="Cambria" pitchFamily="34" charset="-120"/>
              </a:rPr>
              <a:t>Pandas / Plotly</a:t>
            </a:r>
            <a:endParaRPr lang="en-US" sz="1550" dirty="0"/>
          </a:p>
        </p:txBody>
      </p:sp>
      <p:sp>
        <p:nvSpPr>
          <p:cNvPr id="19" name="Text 17"/>
          <p:cNvSpPr/>
          <p:nvPr/>
        </p:nvSpPr>
        <p:spPr>
          <a:xfrm>
            <a:off x="868680" y="3968496"/>
            <a:ext cx="2980944" cy="731520"/>
          </a:xfrm>
          <a:prstGeom prst="rect">
            <a:avLst/>
          </a:prstGeom>
          <a:noFill/>
          <a:ln/>
        </p:spPr>
        <p:txBody>
          <a:bodyPr wrap="square" rtlCol="0" anchor="ctr"/>
          <a:lstStyle/>
          <a:p>
            <a:pPr marL="0" indent="0">
              <a:lnSpc>
                <a:spcPct val="120000"/>
              </a:lnSpc>
              <a:buNone/>
            </a:pPr>
            <a:r>
              <a:rPr lang="en-US" sz="1100" dirty="0">
                <a:solidFill>
                  <a:srgbClr val="5B6B85"/>
                </a:solidFill>
                <a:latin typeface="Calibri" pitchFamily="34" charset="0"/>
                <a:ea typeface="Calibri" pitchFamily="34" charset="-122"/>
                <a:cs typeface="Calibri" pitchFamily="34" charset="-120"/>
              </a:rPr>
              <a:t>Structured display &amp; the security-score gauge</a:t>
            </a:r>
            <a:endParaRPr lang="en-US" sz="1100" dirty="0"/>
          </a:p>
        </p:txBody>
      </p:sp>
      <p:sp>
        <p:nvSpPr>
          <p:cNvPr id="20" name="Shape 18"/>
          <p:cNvSpPr/>
          <p:nvPr/>
        </p:nvSpPr>
        <p:spPr>
          <a:xfrm>
            <a:off x="4334256" y="3401568"/>
            <a:ext cx="3529584" cy="1417320"/>
          </a:xfrm>
          <a:prstGeom prst="roundRect">
            <a:avLst>
              <a:gd name="adj" fmla="val 5806"/>
            </a:avLst>
          </a:prstGeom>
          <a:solidFill>
            <a:srgbClr val="FFFFFF"/>
          </a:solidFill>
          <a:ln w="15875">
            <a:solidFill>
              <a:srgbClr val="E1E7F0"/>
            </a:solidFill>
            <a:prstDash val="solid"/>
          </a:ln>
        </p:spPr>
      </p:sp>
      <p:sp>
        <p:nvSpPr>
          <p:cNvPr id="21" name="Shape 19"/>
          <p:cNvSpPr/>
          <p:nvPr/>
        </p:nvSpPr>
        <p:spPr>
          <a:xfrm>
            <a:off x="4334256" y="3401568"/>
            <a:ext cx="82296" cy="1417320"/>
          </a:xfrm>
          <a:prstGeom prst="rect">
            <a:avLst/>
          </a:prstGeom>
          <a:solidFill>
            <a:srgbClr val="17607D"/>
          </a:solidFill>
          <a:ln/>
        </p:spPr>
      </p:sp>
      <p:sp>
        <p:nvSpPr>
          <p:cNvPr id="22" name="Text 20"/>
          <p:cNvSpPr/>
          <p:nvPr/>
        </p:nvSpPr>
        <p:spPr>
          <a:xfrm>
            <a:off x="4654296" y="3584448"/>
            <a:ext cx="2980944" cy="365760"/>
          </a:xfrm>
          <a:prstGeom prst="rect">
            <a:avLst/>
          </a:prstGeom>
          <a:noFill/>
          <a:ln/>
        </p:spPr>
        <p:txBody>
          <a:bodyPr wrap="square" rtlCol="0" anchor="ctr"/>
          <a:lstStyle/>
          <a:p>
            <a:pPr marL="0" indent="0">
              <a:buNone/>
            </a:pPr>
            <a:r>
              <a:rPr lang="en-US" sz="1550" b="1" dirty="0">
                <a:solidFill>
                  <a:srgbClr val="16213A"/>
                </a:solidFill>
                <a:latin typeface="Cambria" pitchFamily="34" charset="0"/>
                <a:ea typeface="Cambria" pitchFamily="34" charset="-122"/>
                <a:cs typeface="Cambria" pitchFamily="34" charset="-120"/>
              </a:rPr>
              <a:t>Rule-based Engine</a:t>
            </a:r>
            <a:endParaRPr lang="en-US" sz="1550" dirty="0"/>
          </a:p>
        </p:txBody>
      </p:sp>
      <p:sp>
        <p:nvSpPr>
          <p:cNvPr id="23" name="Text 21"/>
          <p:cNvSpPr/>
          <p:nvPr/>
        </p:nvSpPr>
        <p:spPr>
          <a:xfrm>
            <a:off x="4654296" y="3968496"/>
            <a:ext cx="2980944" cy="731520"/>
          </a:xfrm>
          <a:prstGeom prst="rect">
            <a:avLst/>
          </a:prstGeom>
          <a:noFill/>
          <a:ln/>
        </p:spPr>
        <p:txBody>
          <a:bodyPr wrap="square" rtlCol="0" anchor="ctr"/>
          <a:lstStyle/>
          <a:p>
            <a:pPr marL="0" indent="0">
              <a:lnSpc>
                <a:spcPct val="120000"/>
              </a:lnSpc>
              <a:buNone/>
            </a:pPr>
            <a:r>
              <a:rPr lang="en-US" sz="1100" dirty="0">
                <a:solidFill>
                  <a:srgbClr val="5B6B85"/>
                </a:solidFill>
                <a:latin typeface="Calibri" pitchFamily="34" charset="0"/>
                <a:ea typeface="Calibri" pitchFamily="34" charset="-122"/>
                <a:cs typeface="Calibri" pitchFamily="34" charset="-120"/>
              </a:rPr>
              <a:t>Offline command &amp; permission knowledge base</a:t>
            </a:r>
            <a:endParaRPr lang="en-US" sz="1100" dirty="0"/>
          </a:p>
        </p:txBody>
      </p:sp>
      <p:sp>
        <p:nvSpPr>
          <p:cNvPr id="24" name="Shape 22"/>
          <p:cNvSpPr/>
          <p:nvPr/>
        </p:nvSpPr>
        <p:spPr>
          <a:xfrm>
            <a:off x="8119872" y="3401568"/>
            <a:ext cx="3529584" cy="1417320"/>
          </a:xfrm>
          <a:prstGeom prst="roundRect">
            <a:avLst>
              <a:gd name="adj" fmla="val 5806"/>
            </a:avLst>
          </a:prstGeom>
          <a:solidFill>
            <a:srgbClr val="FFFFFF"/>
          </a:solidFill>
          <a:ln w="15875">
            <a:solidFill>
              <a:srgbClr val="E1E7F0"/>
            </a:solidFill>
            <a:prstDash val="solid"/>
          </a:ln>
        </p:spPr>
      </p:sp>
      <p:sp>
        <p:nvSpPr>
          <p:cNvPr id="25" name="Shape 23"/>
          <p:cNvSpPr/>
          <p:nvPr/>
        </p:nvSpPr>
        <p:spPr>
          <a:xfrm>
            <a:off x="8119872" y="3401568"/>
            <a:ext cx="82296" cy="1417320"/>
          </a:xfrm>
          <a:prstGeom prst="rect">
            <a:avLst/>
          </a:prstGeom>
          <a:solidFill>
            <a:srgbClr val="17607D"/>
          </a:solidFill>
          <a:ln/>
        </p:spPr>
      </p:sp>
      <p:sp>
        <p:nvSpPr>
          <p:cNvPr id="26" name="Text 24"/>
          <p:cNvSpPr/>
          <p:nvPr/>
        </p:nvSpPr>
        <p:spPr>
          <a:xfrm>
            <a:off x="8439912" y="3584448"/>
            <a:ext cx="2980944" cy="365760"/>
          </a:xfrm>
          <a:prstGeom prst="rect">
            <a:avLst/>
          </a:prstGeom>
          <a:noFill/>
          <a:ln/>
        </p:spPr>
        <p:txBody>
          <a:bodyPr wrap="square" rtlCol="0" anchor="ctr"/>
          <a:lstStyle/>
          <a:p>
            <a:pPr marL="0" indent="0">
              <a:buNone/>
            </a:pPr>
            <a:r>
              <a:rPr lang="en-US" sz="1550" b="1" dirty="0">
                <a:solidFill>
                  <a:srgbClr val="16213A"/>
                </a:solidFill>
                <a:latin typeface="Cambria" pitchFamily="34" charset="0"/>
                <a:ea typeface="Cambria" pitchFamily="34" charset="-122"/>
                <a:cs typeface="Cambria" pitchFamily="34" charset="-120"/>
              </a:rPr>
              <a:t>Optional LLM Hook</a:t>
            </a:r>
            <a:endParaRPr lang="en-US" sz="1550" dirty="0"/>
          </a:p>
        </p:txBody>
      </p:sp>
      <p:sp>
        <p:nvSpPr>
          <p:cNvPr id="27" name="Text 25"/>
          <p:cNvSpPr/>
          <p:nvPr/>
        </p:nvSpPr>
        <p:spPr>
          <a:xfrm>
            <a:off x="8439912" y="3968496"/>
            <a:ext cx="2980944" cy="731520"/>
          </a:xfrm>
          <a:prstGeom prst="rect">
            <a:avLst/>
          </a:prstGeom>
          <a:noFill/>
          <a:ln/>
        </p:spPr>
        <p:txBody>
          <a:bodyPr wrap="square" rtlCol="0" anchor="ctr"/>
          <a:lstStyle/>
          <a:p>
            <a:pPr marL="0" indent="0">
              <a:lnSpc>
                <a:spcPct val="120000"/>
              </a:lnSpc>
              <a:buNone/>
            </a:pPr>
            <a:r>
              <a:rPr lang="en-US" sz="1100" dirty="0">
                <a:solidFill>
                  <a:srgbClr val="5B6B85"/>
                </a:solidFill>
                <a:latin typeface="Calibri" pitchFamily="34" charset="0"/>
                <a:ea typeface="Calibri" pitchFamily="34" charset="-122"/>
                <a:cs typeface="Calibri" pitchFamily="34" charset="-120"/>
              </a:rPr>
              <a:t>OpenAI / Gemini / Ollama for richer summaries</a:t>
            </a:r>
            <a:endParaRPr lang="en-US" sz="1100" dirty="0"/>
          </a:p>
        </p:txBody>
      </p:sp>
      <p:sp>
        <p:nvSpPr>
          <p:cNvPr id="28" name="Text 26"/>
          <p:cNvSpPr/>
          <p:nvPr/>
        </p:nvSpPr>
        <p:spPr>
          <a:xfrm>
            <a:off x="548640" y="5989320"/>
            <a:ext cx="10515600" cy="365760"/>
          </a:xfrm>
          <a:prstGeom prst="rect">
            <a:avLst/>
          </a:prstGeom>
          <a:noFill/>
          <a:ln/>
        </p:spPr>
        <p:txBody>
          <a:bodyPr wrap="square" rtlCol="0" anchor="ctr"/>
          <a:lstStyle/>
          <a:p>
            <a:pPr marL="0" indent="0">
              <a:buNone/>
            </a:pPr>
            <a:r>
              <a:rPr lang="en-US" sz="1200" i="1" dirty="0">
                <a:solidFill>
                  <a:srgbClr val="17607D"/>
                </a:solidFill>
                <a:latin typeface="Calibri" pitchFamily="34" charset="0"/>
                <a:ea typeface="Calibri" pitchFamily="34" charset="-122"/>
                <a:cs typeface="Calibri" pitchFamily="34" charset="-120"/>
              </a:rPr>
              <a:t>Runs fully offline — no API key or paid service required for the baseline rule-based experience.</a:t>
            </a:r>
            <a:endParaRPr lang="en-US" sz="1200" dirty="0"/>
          </a:p>
        </p:txBody>
      </p:sp>
      <p:sp>
        <p:nvSpPr>
          <p:cNvPr id="29" name="Text 27"/>
          <p:cNvSpPr/>
          <p:nvPr/>
        </p:nvSpPr>
        <p:spPr>
          <a:xfrm>
            <a:off x="457200" y="6510528"/>
            <a:ext cx="7315200" cy="274320"/>
          </a:xfrm>
          <a:prstGeom prst="rect">
            <a:avLst/>
          </a:prstGeom>
          <a:noFill/>
          <a:ln/>
        </p:spPr>
        <p:txBody>
          <a:bodyPr wrap="square" rtlCol="0" anchor="ctr"/>
          <a:lstStyle/>
          <a:p>
            <a:pPr marL="0" indent="0" algn="l">
              <a:buNone/>
            </a:pPr>
            <a:r>
              <a:rPr lang="en-US" sz="900" dirty="0">
                <a:solidFill>
                  <a:srgbClr val="5B6B85"/>
                </a:solidFill>
                <a:latin typeface="Calibri" pitchFamily="34" charset="0"/>
                <a:ea typeface="Calibri" pitchFamily="34" charset="-122"/>
                <a:cs typeface="Calibri" pitchFamily="34" charset="-120"/>
              </a:rPr>
              <a:t>AI Linux Security Assistant</a:t>
            </a:r>
            <a:endParaRPr lang="en-US" sz="900" dirty="0"/>
          </a:p>
        </p:txBody>
      </p:sp>
      <p:sp>
        <p:nvSpPr>
          <p:cNvPr id="30" name="Text 28"/>
          <p:cNvSpPr/>
          <p:nvPr/>
        </p:nvSpPr>
        <p:spPr>
          <a:xfrm>
            <a:off x="11247120" y="6510528"/>
            <a:ext cx="457200" cy="274320"/>
          </a:xfrm>
          <a:prstGeom prst="rect">
            <a:avLst/>
          </a:prstGeom>
          <a:noFill/>
          <a:ln/>
        </p:spPr>
        <p:txBody>
          <a:bodyPr wrap="square" rtlCol="0" anchor="ctr"/>
          <a:lstStyle/>
          <a:p>
            <a:pPr marL="0" indent="0" algn="r">
              <a:buNone/>
            </a:pPr>
            <a:r>
              <a:rPr lang="en-US" sz="900" dirty="0">
                <a:solidFill>
                  <a:srgbClr val="5B6B85"/>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50" b="1" kern="0" spc="200" dirty="0">
                <a:solidFill>
                  <a:srgbClr val="17607D"/>
                </a:solidFill>
                <a:latin typeface="Calibri" pitchFamily="34" charset="0"/>
                <a:ea typeface="Calibri" pitchFamily="34" charset="-122"/>
                <a:cs typeface="Calibri" pitchFamily="34" charset="-120"/>
              </a:rPr>
              <a:t>CORE CAPABILITIES</a:t>
            </a:r>
            <a:endParaRPr lang="en-US" sz="1250" dirty="0"/>
          </a:p>
        </p:txBody>
      </p:sp>
      <p:sp>
        <p:nvSpPr>
          <p:cNvPr id="3" name="Text 1"/>
          <p:cNvSpPr/>
          <p:nvPr/>
        </p:nvSpPr>
        <p:spPr>
          <a:xfrm>
            <a:off x="548640" y="685800"/>
            <a:ext cx="10789920" cy="731520"/>
          </a:xfrm>
          <a:prstGeom prst="rect">
            <a:avLst/>
          </a:prstGeom>
          <a:noFill/>
          <a:ln/>
        </p:spPr>
        <p:txBody>
          <a:bodyPr wrap="square" rtlCol="0" anchor="ctr"/>
          <a:lstStyle/>
          <a:p>
            <a:pPr marL="0" indent="0">
              <a:buNone/>
            </a:pPr>
            <a:r>
              <a:rPr lang="en-US" sz="3000" b="1" dirty="0">
                <a:solidFill>
                  <a:srgbClr val="16213A"/>
                </a:solidFill>
                <a:latin typeface="Cambria" pitchFamily="34" charset="0"/>
                <a:ea typeface="Cambria" pitchFamily="34" charset="-122"/>
                <a:cs typeface="Cambria" pitchFamily="34" charset="-120"/>
              </a:rPr>
              <a:t>Four Tools Working Together</a:t>
            </a:r>
            <a:endParaRPr lang="en-US" sz="3000" dirty="0"/>
          </a:p>
        </p:txBody>
      </p:sp>
      <p:sp>
        <p:nvSpPr>
          <p:cNvPr id="4" name="Shape 2"/>
          <p:cNvSpPr/>
          <p:nvPr/>
        </p:nvSpPr>
        <p:spPr>
          <a:xfrm>
            <a:off x="548640" y="1691640"/>
            <a:ext cx="11064240" cy="1051560"/>
          </a:xfrm>
          <a:prstGeom prst="roundRect">
            <a:avLst>
              <a:gd name="adj" fmla="val 7826"/>
            </a:avLst>
          </a:prstGeom>
          <a:solidFill>
            <a:srgbClr val="F3F6FA"/>
          </a:solidFill>
          <a:ln w="12700">
            <a:solidFill>
              <a:srgbClr val="E1E7F0"/>
            </a:solidFill>
            <a:prstDash val="solid"/>
          </a:ln>
        </p:spPr>
      </p:sp>
      <p:sp>
        <p:nvSpPr>
          <p:cNvPr id="5" name="Shape 3"/>
          <p:cNvSpPr/>
          <p:nvPr/>
        </p:nvSpPr>
        <p:spPr>
          <a:xfrm>
            <a:off x="822960" y="1947672"/>
            <a:ext cx="548640" cy="548640"/>
          </a:xfrm>
          <a:prstGeom prst="ellipse">
            <a:avLst/>
          </a:prstGeom>
          <a:solidFill>
            <a:srgbClr val="17607D"/>
          </a:solidFill>
          <a:ln/>
        </p:spPr>
      </p:sp>
      <p:sp>
        <p:nvSpPr>
          <p:cNvPr id="6" name="Text 4"/>
          <p:cNvSpPr/>
          <p:nvPr/>
        </p:nvSpPr>
        <p:spPr>
          <a:xfrm>
            <a:off x="822960" y="1947672"/>
            <a:ext cx="548640" cy="548640"/>
          </a:xfrm>
          <a:prstGeom prst="rect">
            <a:avLst/>
          </a:prstGeom>
          <a:noFill/>
          <a:ln/>
        </p:spPr>
        <p:txBody>
          <a:bodyPr wrap="square" rtlCol="0" anchor="ctr"/>
          <a:lstStyle/>
          <a:p>
            <a:pPr marL="0" indent="0" algn="ctr">
              <a:buNone/>
            </a:pPr>
            <a:r>
              <a:rPr lang="en-US" sz="1560" b="1" dirty="0">
                <a:solidFill>
                  <a:srgbClr val="FFFFFF"/>
                </a:solidFill>
                <a:latin typeface="Calibri" pitchFamily="34" charset="0"/>
                <a:ea typeface="Calibri" pitchFamily="34" charset="-122"/>
                <a:cs typeface="Calibri" pitchFamily="34" charset="-120"/>
              </a:rPr>
              <a:t>01</a:t>
            </a:r>
            <a:endParaRPr lang="en-US" sz="1560" dirty="0"/>
          </a:p>
        </p:txBody>
      </p:sp>
      <p:sp>
        <p:nvSpPr>
          <p:cNvPr id="7" name="Text 5"/>
          <p:cNvSpPr/>
          <p:nvPr/>
        </p:nvSpPr>
        <p:spPr>
          <a:xfrm>
            <a:off x="1691640" y="1819656"/>
            <a:ext cx="9601200" cy="365760"/>
          </a:xfrm>
          <a:prstGeom prst="rect">
            <a:avLst/>
          </a:prstGeom>
          <a:noFill/>
          <a:ln/>
        </p:spPr>
        <p:txBody>
          <a:bodyPr wrap="square" rtlCol="0" anchor="ctr"/>
          <a:lstStyle/>
          <a:p>
            <a:pPr marL="0" indent="0">
              <a:buNone/>
            </a:pPr>
            <a:r>
              <a:rPr lang="en-US" sz="1550" b="1" dirty="0">
                <a:solidFill>
                  <a:srgbClr val="16213A"/>
                </a:solidFill>
                <a:latin typeface="Cambria" pitchFamily="34" charset="0"/>
                <a:ea typeface="Cambria" pitchFamily="34" charset="-122"/>
                <a:cs typeface="Cambria" pitchFamily="34" charset="-120"/>
              </a:rPr>
              <a:t>Command Explanation Tool</a:t>
            </a:r>
            <a:endParaRPr lang="en-US" sz="1550" dirty="0"/>
          </a:p>
        </p:txBody>
      </p:sp>
      <p:sp>
        <p:nvSpPr>
          <p:cNvPr id="8" name="Text 6"/>
          <p:cNvSpPr/>
          <p:nvPr/>
        </p:nvSpPr>
        <p:spPr>
          <a:xfrm>
            <a:off x="1691640" y="2176272"/>
            <a:ext cx="9601200" cy="502920"/>
          </a:xfrm>
          <a:prstGeom prst="rect">
            <a:avLst/>
          </a:prstGeom>
          <a:noFill/>
          <a:ln/>
        </p:spPr>
        <p:txBody>
          <a:bodyPr wrap="square" rtlCol="0" anchor="ctr"/>
          <a:lstStyle/>
          <a:p>
            <a:pPr marL="0" indent="0">
              <a:lnSpc>
                <a:spcPct val="120000"/>
              </a:lnSpc>
              <a:buNone/>
            </a:pPr>
            <a:r>
              <a:rPr lang="en-US" sz="1150" dirty="0">
                <a:solidFill>
                  <a:srgbClr val="5B6B85"/>
                </a:solidFill>
                <a:latin typeface="Calibri" pitchFamily="34" charset="0"/>
                <a:ea typeface="Calibri" pitchFamily="34" charset="-122"/>
                <a:cs typeface="Calibri" pitchFamily="34" charset="-120"/>
              </a:rPr>
              <a:t>Purpose, syntax, options, typical usage &amp; security considerations for common commands (chmod, sudo, ssh, ufw, iptables &amp; more).</a:t>
            </a:r>
            <a:endParaRPr lang="en-US" sz="1150" dirty="0"/>
          </a:p>
        </p:txBody>
      </p:sp>
      <p:sp>
        <p:nvSpPr>
          <p:cNvPr id="9" name="Shape 7"/>
          <p:cNvSpPr/>
          <p:nvPr/>
        </p:nvSpPr>
        <p:spPr>
          <a:xfrm>
            <a:off x="548640" y="2880360"/>
            <a:ext cx="11064240" cy="1051560"/>
          </a:xfrm>
          <a:prstGeom prst="roundRect">
            <a:avLst>
              <a:gd name="adj" fmla="val 7826"/>
            </a:avLst>
          </a:prstGeom>
          <a:solidFill>
            <a:srgbClr val="F3F6FA"/>
          </a:solidFill>
          <a:ln w="12700">
            <a:solidFill>
              <a:srgbClr val="E1E7F0"/>
            </a:solidFill>
            <a:prstDash val="solid"/>
          </a:ln>
        </p:spPr>
      </p:sp>
      <p:sp>
        <p:nvSpPr>
          <p:cNvPr id="10" name="Shape 8"/>
          <p:cNvSpPr/>
          <p:nvPr/>
        </p:nvSpPr>
        <p:spPr>
          <a:xfrm>
            <a:off x="822960" y="3136392"/>
            <a:ext cx="548640" cy="548640"/>
          </a:xfrm>
          <a:prstGeom prst="ellipse">
            <a:avLst/>
          </a:prstGeom>
          <a:solidFill>
            <a:srgbClr val="17607D"/>
          </a:solidFill>
          <a:ln/>
        </p:spPr>
      </p:sp>
      <p:sp>
        <p:nvSpPr>
          <p:cNvPr id="11" name="Text 9"/>
          <p:cNvSpPr/>
          <p:nvPr/>
        </p:nvSpPr>
        <p:spPr>
          <a:xfrm>
            <a:off x="822960" y="3136392"/>
            <a:ext cx="548640" cy="548640"/>
          </a:xfrm>
          <a:prstGeom prst="rect">
            <a:avLst/>
          </a:prstGeom>
          <a:noFill/>
          <a:ln/>
        </p:spPr>
        <p:txBody>
          <a:bodyPr wrap="square" rtlCol="0" anchor="ctr"/>
          <a:lstStyle/>
          <a:p>
            <a:pPr marL="0" indent="0" algn="ctr">
              <a:buNone/>
            </a:pPr>
            <a:r>
              <a:rPr lang="en-US" sz="1560" b="1" dirty="0">
                <a:solidFill>
                  <a:srgbClr val="FFFFFF"/>
                </a:solidFill>
                <a:latin typeface="Calibri" pitchFamily="34" charset="0"/>
                <a:ea typeface="Calibri" pitchFamily="34" charset="-122"/>
                <a:cs typeface="Calibri" pitchFamily="34" charset="-120"/>
              </a:rPr>
              <a:t>02</a:t>
            </a:r>
            <a:endParaRPr lang="en-US" sz="1560" dirty="0"/>
          </a:p>
        </p:txBody>
      </p:sp>
      <p:sp>
        <p:nvSpPr>
          <p:cNvPr id="12" name="Text 10"/>
          <p:cNvSpPr/>
          <p:nvPr/>
        </p:nvSpPr>
        <p:spPr>
          <a:xfrm>
            <a:off x="1691640" y="3008376"/>
            <a:ext cx="9601200" cy="365760"/>
          </a:xfrm>
          <a:prstGeom prst="rect">
            <a:avLst/>
          </a:prstGeom>
          <a:noFill/>
          <a:ln/>
        </p:spPr>
        <p:txBody>
          <a:bodyPr wrap="square" rtlCol="0" anchor="ctr"/>
          <a:lstStyle/>
          <a:p>
            <a:pPr marL="0" indent="0">
              <a:buNone/>
            </a:pPr>
            <a:r>
              <a:rPr lang="en-US" sz="1550" b="1" dirty="0">
                <a:solidFill>
                  <a:srgbClr val="16213A"/>
                </a:solidFill>
                <a:latin typeface="Cambria" pitchFamily="34" charset="0"/>
                <a:ea typeface="Cambria" pitchFamily="34" charset="-122"/>
                <a:cs typeface="Cambria" pitchFamily="34" charset="-120"/>
              </a:rPr>
              <a:t>Permission Analyzer</a:t>
            </a:r>
            <a:endParaRPr lang="en-US" sz="1550" dirty="0"/>
          </a:p>
        </p:txBody>
      </p:sp>
      <p:sp>
        <p:nvSpPr>
          <p:cNvPr id="13" name="Text 11"/>
          <p:cNvSpPr/>
          <p:nvPr/>
        </p:nvSpPr>
        <p:spPr>
          <a:xfrm>
            <a:off x="1691640" y="3364992"/>
            <a:ext cx="9601200" cy="502920"/>
          </a:xfrm>
          <a:prstGeom prst="rect">
            <a:avLst/>
          </a:prstGeom>
          <a:noFill/>
          <a:ln/>
        </p:spPr>
        <p:txBody>
          <a:bodyPr wrap="square" rtlCol="0" anchor="ctr"/>
          <a:lstStyle/>
          <a:p>
            <a:pPr marL="0" indent="0">
              <a:lnSpc>
                <a:spcPct val="120000"/>
              </a:lnSpc>
              <a:buNone/>
            </a:pPr>
            <a:r>
              <a:rPr lang="en-US" sz="1150" dirty="0">
                <a:solidFill>
                  <a:srgbClr val="5B6B85"/>
                </a:solidFill>
                <a:latin typeface="Calibri" pitchFamily="34" charset="0"/>
                <a:ea typeface="Calibri" pitchFamily="34" charset="-122"/>
                <a:cs typeface="Calibri" pitchFamily="34" charset="-120"/>
              </a:rPr>
              <a:t>Detects world-writable/executable files, weak modes, SUID/SGID bits and converts symbolic ↔ octal notation.</a:t>
            </a:r>
            <a:endParaRPr lang="en-US" sz="1150" dirty="0"/>
          </a:p>
        </p:txBody>
      </p:sp>
      <p:sp>
        <p:nvSpPr>
          <p:cNvPr id="14" name="Shape 12"/>
          <p:cNvSpPr/>
          <p:nvPr/>
        </p:nvSpPr>
        <p:spPr>
          <a:xfrm>
            <a:off x="548640" y="4069080"/>
            <a:ext cx="11064240" cy="1051560"/>
          </a:xfrm>
          <a:prstGeom prst="roundRect">
            <a:avLst>
              <a:gd name="adj" fmla="val 7826"/>
            </a:avLst>
          </a:prstGeom>
          <a:solidFill>
            <a:srgbClr val="F3F6FA"/>
          </a:solidFill>
          <a:ln w="12700">
            <a:solidFill>
              <a:srgbClr val="E1E7F0"/>
            </a:solidFill>
            <a:prstDash val="solid"/>
          </a:ln>
        </p:spPr>
      </p:sp>
      <p:sp>
        <p:nvSpPr>
          <p:cNvPr id="15" name="Shape 13"/>
          <p:cNvSpPr/>
          <p:nvPr/>
        </p:nvSpPr>
        <p:spPr>
          <a:xfrm>
            <a:off x="822960" y="4325112"/>
            <a:ext cx="548640" cy="548640"/>
          </a:xfrm>
          <a:prstGeom prst="ellipse">
            <a:avLst/>
          </a:prstGeom>
          <a:solidFill>
            <a:srgbClr val="17607D"/>
          </a:solidFill>
          <a:ln/>
        </p:spPr>
      </p:sp>
      <p:sp>
        <p:nvSpPr>
          <p:cNvPr id="16" name="Text 14"/>
          <p:cNvSpPr/>
          <p:nvPr/>
        </p:nvSpPr>
        <p:spPr>
          <a:xfrm>
            <a:off x="822960" y="4325112"/>
            <a:ext cx="548640" cy="548640"/>
          </a:xfrm>
          <a:prstGeom prst="rect">
            <a:avLst/>
          </a:prstGeom>
          <a:noFill/>
          <a:ln/>
        </p:spPr>
        <p:txBody>
          <a:bodyPr wrap="square" rtlCol="0" anchor="ctr"/>
          <a:lstStyle/>
          <a:p>
            <a:pPr marL="0" indent="0" algn="ctr">
              <a:buNone/>
            </a:pPr>
            <a:r>
              <a:rPr lang="en-US" sz="1560" b="1" dirty="0">
                <a:solidFill>
                  <a:srgbClr val="FFFFFF"/>
                </a:solidFill>
                <a:latin typeface="Calibri" pitchFamily="34" charset="0"/>
                <a:ea typeface="Calibri" pitchFamily="34" charset="-122"/>
                <a:cs typeface="Calibri" pitchFamily="34" charset="-120"/>
              </a:rPr>
              <a:t>03</a:t>
            </a:r>
            <a:endParaRPr lang="en-US" sz="1560" dirty="0"/>
          </a:p>
        </p:txBody>
      </p:sp>
      <p:sp>
        <p:nvSpPr>
          <p:cNvPr id="17" name="Text 15"/>
          <p:cNvSpPr/>
          <p:nvPr/>
        </p:nvSpPr>
        <p:spPr>
          <a:xfrm>
            <a:off x="1691640" y="4197096"/>
            <a:ext cx="9601200" cy="365760"/>
          </a:xfrm>
          <a:prstGeom prst="rect">
            <a:avLst/>
          </a:prstGeom>
          <a:noFill/>
          <a:ln/>
        </p:spPr>
        <p:txBody>
          <a:bodyPr wrap="square" rtlCol="0" anchor="ctr"/>
          <a:lstStyle/>
          <a:p>
            <a:pPr marL="0" indent="0">
              <a:buNone/>
            </a:pPr>
            <a:r>
              <a:rPr lang="en-US" sz="1550" b="1" dirty="0">
                <a:solidFill>
                  <a:srgbClr val="16213A"/>
                </a:solidFill>
                <a:latin typeface="Cambria" pitchFamily="34" charset="0"/>
                <a:ea typeface="Cambria" pitchFamily="34" charset="-122"/>
                <a:cs typeface="Cambria" pitchFamily="34" charset="-120"/>
              </a:rPr>
              <a:t>Hardening Recommendation Tool</a:t>
            </a:r>
            <a:endParaRPr lang="en-US" sz="1550" dirty="0"/>
          </a:p>
        </p:txBody>
      </p:sp>
      <p:sp>
        <p:nvSpPr>
          <p:cNvPr id="18" name="Text 16"/>
          <p:cNvSpPr/>
          <p:nvPr/>
        </p:nvSpPr>
        <p:spPr>
          <a:xfrm>
            <a:off x="1691640" y="4553712"/>
            <a:ext cx="9601200" cy="502920"/>
          </a:xfrm>
          <a:prstGeom prst="rect">
            <a:avLst/>
          </a:prstGeom>
          <a:noFill/>
          <a:ln/>
        </p:spPr>
        <p:txBody>
          <a:bodyPr wrap="square" rtlCol="0" anchor="ctr"/>
          <a:lstStyle/>
          <a:p>
            <a:pPr marL="0" indent="0">
              <a:lnSpc>
                <a:spcPct val="120000"/>
              </a:lnSpc>
              <a:buNone/>
            </a:pPr>
            <a:r>
              <a:rPr lang="en-US" sz="1150" dirty="0">
                <a:solidFill>
                  <a:srgbClr val="5B6B85"/>
                </a:solidFill>
                <a:latin typeface="Calibri" pitchFamily="34" charset="0"/>
                <a:ea typeface="Calibri" pitchFamily="34" charset="-122"/>
                <a:cs typeface="Calibri" pitchFamily="34" charset="-120"/>
              </a:rPr>
              <a:t>A curated checklist: SSH config, firewall policy, account hygiene, Fail2Ban, patching &amp; audit logging.</a:t>
            </a:r>
            <a:endParaRPr lang="en-US" sz="1150" dirty="0"/>
          </a:p>
        </p:txBody>
      </p:sp>
      <p:sp>
        <p:nvSpPr>
          <p:cNvPr id="19" name="Shape 17"/>
          <p:cNvSpPr/>
          <p:nvPr/>
        </p:nvSpPr>
        <p:spPr>
          <a:xfrm>
            <a:off x="548640" y="5257800"/>
            <a:ext cx="11064240" cy="1051560"/>
          </a:xfrm>
          <a:prstGeom prst="roundRect">
            <a:avLst>
              <a:gd name="adj" fmla="val 7826"/>
            </a:avLst>
          </a:prstGeom>
          <a:solidFill>
            <a:srgbClr val="F3F6FA"/>
          </a:solidFill>
          <a:ln w="12700">
            <a:solidFill>
              <a:srgbClr val="E1E7F0"/>
            </a:solidFill>
            <a:prstDash val="solid"/>
          </a:ln>
        </p:spPr>
      </p:sp>
      <p:sp>
        <p:nvSpPr>
          <p:cNvPr id="20" name="Shape 18"/>
          <p:cNvSpPr/>
          <p:nvPr/>
        </p:nvSpPr>
        <p:spPr>
          <a:xfrm>
            <a:off x="822960" y="5513832"/>
            <a:ext cx="548640" cy="548640"/>
          </a:xfrm>
          <a:prstGeom prst="ellipse">
            <a:avLst/>
          </a:prstGeom>
          <a:solidFill>
            <a:srgbClr val="17607D"/>
          </a:solidFill>
          <a:ln/>
        </p:spPr>
      </p:sp>
      <p:sp>
        <p:nvSpPr>
          <p:cNvPr id="21" name="Text 19"/>
          <p:cNvSpPr/>
          <p:nvPr/>
        </p:nvSpPr>
        <p:spPr>
          <a:xfrm>
            <a:off x="822960" y="5513832"/>
            <a:ext cx="548640" cy="548640"/>
          </a:xfrm>
          <a:prstGeom prst="rect">
            <a:avLst/>
          </a:prstGeom>
          <a:noFill/>
          <a:ln/>
        </p:spPr>
        <p:txBody>
          <a:bodyPr wrap="square" rtlCol="0" anchor="ctr"/>
          <a:lstStyle/>
          <a:p>
            <a:pPr marL="0" indent="0" algn="ctr">
              <a:buNone/>
            </a:pPr>
            <a:r>
              <a:rPr lang="en-US" sz="1560" b="1" dirty="0">
                <a:solidFill>
                  <a:srgbClr val="FFFFFF"/>
                </a:solidFill>
                <a:latin typeface="Calibri" pitchFamily="34" charset="0"/>
                <a:ea typeface="Calibri" pitchFamily="34" charset="-122"/>
                <a:cs typeface="Calibri" pitchFamily="34" charset="-120"/>
              </a:rPr>
              <a:t>04</a:t>
            </a:r>
            <a:endParaRPr lang="en-US" sz="1560" dirty="0"/>
          </a:p>
        </p:txBody>
      </p:sp>
      <p:sp>
        <p:nvSpPr>
          <p:cNvPr id="22" name="Text 20"/>
          <p:cNvSpPr/>
          <p:nvPr/>
        </p:nvSpPr>
        <p:spPr>
          <a:xfrm>
            <a:off x="1691640" y="5385816"/>
            <a:ext cx="9601200" cy="365760"/>
          </a:xfrm>
          <a:prstGeom prst="rect">
            <a:avLst/>
          </a:prstGeom>
          <a:noFill/>
          <a:ln/>
        </p:spPr>
        <p:txBody>
          <a:bodyPr wrap="square" rtlCol="0" anchor="ctr"/>
          <a:lstStyle/>
          <a:p>
            <a:pPr marL="0" indent="0">
              <a:buNone/>
            </a:pPr>
            <a:r>
              <a:rPr lang="en-US" sz="1550" b="1" dirty="0">
                <a:solidFill>
                  <a:srgbClr val="16213A"/>
                </a:solidFill>
                <a:latin typeface="Cambria" pitchFamily="34" charset="0"/>
                <a:ea typeface="Cambria" pitchFamily="34" charset="-122"/>
                <a:cs typeface="Cambria" pitchFamily="34" charset="-120"/>
              </a:rPr>
              <a:t>Security Report Generator</a:t>
            </a:r>
            <a:endParaRPr lang="en-US" sz="1550" dirty="0"/>
          </a:p>
        </p:txBody>
      </p:sp>
      <p:sp>
        <p:nvSpPr>
          <p:cNvPr id="23" name="Text 21"/>
          <p:cNvSpPr/>
          <p:nvPr/>
        </p:nvSpPr>
        <p:spPr>
          <a:xfrm>
            <a:off x="1691640" y="5742432"/>
            <a:ext cx="9601200" cy="502920"/>
          </a:xfrm>
          <a:prstGeom prst="rect">
            <a:avLst/>
          </a:prstGeom>
          <a:noFill/>
          <a:ln/>
        </p:spPr>
        <p:txBody>
          <a:bodyPr wrap="square" rtlCol="0" anchor="ctr"/>
          <a:lstStyle/>
          <a:p>
            <a:pPr marL="0" indent="0">
              <a:lnSpc>
                <a:spcPct val="120000"/>
              </a:lnSpc>
              <a:buNone/>
            </a:pPr>
            <a:r>
              <a:rPr lang="en-US" sz="1150" dirty="0">
                <a:solidFill>
                  <a:srgbClr val="5B6B85"/>
                </a:solidFill>
                <a:latin typeface="Calibri" pitchFamily="34" charset="0"/>
                <a:ea typeface="Calibri" pitchFamily="34" charset="-122"/>
                <a:cs typeface="Calibri" pitchFamily="34" charset="-120"/>
              </a:rPr>
              <a:t>Combines every finding into a structured, downloadable PDF with a final security score out of 100.</a:t>
            </a:r>
            <a:endParaRPr lang="en-US" sz="1150" dirty="0"/>
          </a:p>
        </p:txBody>
      </p:sp>
      <p:sp>
        <p:nvSpPr>
          <p:cNvPr id="24" name="Text 22"/>
          <p:cNvSpPr/>
          <p:nvPr/>
        </p:nvSpPr>
        <p:spPr>
          <a:xfrm>
            <a:off x="457200" y="6510528"/>
            <a:ext cx="7315200" cy="274320"/>
          </a:xfrm>
          <a:prstGeom prst="rect">
            <a:avLst/>
          </a:prstGeom>
          <a:noFill/>
          <a:ln/>
        </p:spPr>
        <p:txBody>
          <a:bodyPr wrap="square" rtlCol="0" anchor="ctr"/>
          <a:lstStyle/>
          <a:p>
            <a:pPr marL="0" indent="0" algn="l">
              <a:buNone/>
            </a:pPr>
            <a:r>
              <a:rPr lang="en-US" sz="900" dirty="0">
                <a:solidFill>
                  <a:srgbClr val="5B6B85"/>
                </a:solidFill>
                <a:latin typeface="Calibri" pitchFamily="34" charset="0"/>
                <a:ea typeface="Calibri" pitchFamily="34" charset="-122"/>
                <a:cs typeface="Calibri" pitchFamily="34" charset="-120"/>
              </a:rPr>
              <a:t>AI Linux Security Assistant</a:t>
            </a:r>
            <a:endParaRPr lang="en-US" sz="900" dirty="0"/>
          </a:p>
        </p:txBody>
      </p:sp>
      <p:sp>
        <p:nvSpPr>
          <p:cNvPr id="25" name="Text 23"/>
          <p:cNvSpPr/>
          <p:nvPr/>
        </p:nvSpPr>
        <p:spPr>
          <a:xfrm>
            <a:off x="11247120" y="6510528"/>
            <a:ext cx="457200" cy="274320"/>
          </a:xfrm>
          <a:prstGeom prst="rect">
            <a:avLst/>
          </a:prstGeom>
          <a:noFill/>
          <a:ln/>
        </p:spPr>
        <p:txBody>
          <a:bodyPr wrap="square" rtlCol="0" anchor="ctr"/>
          <a:lstStyle/>
          <a:p>
            <a:pPr marL="0" indent="0" algn="r">
              <a:buNone/>
            </a:pPr>
            <a:r>
              <a:rPr lang="en-US" sz="900" dirty="0">
                <a:solidFill>
                  <a:srgbClr val="5B6B85"/>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B33"/>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50" b="1" kern="0" spc="200" dirty="0">
                <a:solidFill>
                  <a:srgbClr val="27E1C1"/>
                </a:solidFill>
                <a:latin typeface="Calibri" pitchFamily="34" charset="0"/>
                <a:ea typeface="Calibri" pitchFamily="34" charset="-122"/>
                <a:cs typeface="Calibri" pitchFamily="34" charset="-120"/>
              </a:rPr>
              <a:t>LIVE WALKTHROUGH  ·  STEP 1</a:t>
            </a:r>
            <a:endParaRPr lang="en-US" sz="1250" dirty="0"/>
          </a:p>
        </p:txBody>
      </p:sp>
      <p:sp>
        <p:nvSpPr>
          <p:cNvPr id="3" name="Text 1"/>
          <p:cNvSpPr/>
          <p:nvPr/>
        </p:nvSpPr>
        <p:spPr>
          <a:xfrm>
            <a:off x="548640" y="685800"/>
            <a:ext cx="960120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Enter a Command or Permission String</a:t>
            </a:r>
            <a:endParaRPr lang="en-US" sz="2800" dirty="0"/>
          </a:p>
        </p:txBody>
      </p:sp>
      <p:sp>
        <p:nvSpPr>
          <p:cNvPr id="4" name="Text 2"/>
          <p:cNvSpPr/>
          <p:nvPr/>
        </p:nvSpPr>
        <p:spPr>
          <a:xfrm>
            <a:off x="548640" y="1280160"/>
            <a:ext cx="8961120" cy="457200"/>
          </a:xfrm>
          <a:prstGeom prst="rect">
            <a:avLst/>
          </a:prstGeom>
          <a:noFill/>
          <a:ln/>
        </p:spPr>
        <p:txBody>
          <a:bodyPr wrap="square" rtlCol="0" anchor="ctr"/>
          <a:lstStyle/>
          <a:p>
            <a:pPr marL="0" indent="0">
              <a:buNone/>
            </a:pPr>
            <a:r>
              <a:rPr lang="en-US" sz="1250" dirty="0">
                <a:solidFill>
                  <a:srgbClr val="C7D2E8"/>
                </a:solidFill>
                <a:latin typeface="Calibri" pitchFamily="34" charset="0"/>
                <a:ea typeface="Calibri" pitchFamily="34" charset="-122"/>
                <a:cs typeface="Calibri" pitchFamily="34" charset="-120"/>
              </a:rPr>
              <a:t>The sidebar keeps input minimal: a Linux command field and a permission-string field. No file uploads, no server setup.</a:t>
            </a:r>
            <a:endParaRPr lang="en-US" sz="1250" dirty="0"/>
          </a:p>
        </p:txBody>
      </p:sp>
      <p:sp>
        <p:nvSpPr>
          <p:cNvPr id="5" name="Shape 3"/>
          <p:cNvSpPr/>
          <p:nvPr/>
        </p:nvSpPr>
        <p:spPr>
          <a:xfrm>
            <a:off x="1874520" y="1874520"/>
            <a:ext cx="8412480" cy="4572000"/>
          </a:xfrm>
          <a:prstGeom prst="roundRect">
            <a:avLst>
              <a:gd name="adj" fmla="val 1200"/>
            </a:avLst>
          </a:prstGeom>
          <a:solidFill>
            <a:srgbClr val="FFFFFF"/>
          </a:solidFill>
          <a:ln w="38100">
            <a:solidFill>
              <a:srgbClr val="17284A"/>
            </a:solidFill>
            <a:prstDash val="solid"/>
          </a:ln>
        </p:spPr>
      </p:sp>
      <p:sp>
        <p:nvSpPr>
          <p:cNvPr id="7" name="Text 4"/>
          <p:cNvSpPr/>
          <p:nvPr/>
        </p:nvSpPr>
        <p:spPr>
          <a:xfrm>
            <a:off x="457200" y="6510528"/>
            <a:ext cx="7315200" cy="274320"/>
          </a:xfrm>
          <a:prstGeom prst="rect">
            <a:avLst/>
          </a:prstGeom>
          <a:noFill/>
          <a:ln/>
        </p:spPr>
        <p:txBody>
          <a:bodyPr wrap="square" rtlCol="0" anchor="ctr"/>
          <a:lstStyle/>
          <a:p>
            <a:pPr marL="0" indent="0" algn="l">
              <a:buNone/>
            </a:pPr>
            <a:r>
              <a:rPr lang="en-US" sz="900" dirty="0">
                <a:solidFill>
                  <a:srgbClr val="5B6B85"/>
                </a:solidFill>
                <a:latin typeface="Calibri" pitchFamily="34" charset="0"/>
                <a:ea typeface="Calibri" pitchFamily="34" charset="-122"/>
                <a:cs typeface="Calibri" pitchFamily="34" charset="-120"/>
              </a:rPr>
              <a:t>AI Linux Security Assistant</a:t>
            </a:r>
            <a:endParaRPr lang="en-US" sz="900" dirty="0"/>
          </a:p>
        </p:txBody>
      </p:sp>
      <p:sp>
        <p:nvSpPr>
          <p:cNvPr id="8" name="Text 5"/>
          <p:cNvSpPr/>
          <p:nvPr/>
        </p:nvSpPr>
        <p:spPr>
          <a:xfrm>
            <a:off x="11247120" y="6510528"/>
            <a:ext cx="457200" cy="274320"/>
          </a:xfrm>
          <a:prstGeom prst="rect">
            <a:avLst/>
          </a:prstGeom>
          <a:noFill/>
          <a:ln/>
        </p:spPr>
        <p:txBody>
          <a:bodyPr wrap="square" rtlCol="0" anchor="ctr"/>
          <a:lstStyle/>
          <a:p>
            <a:pPr marL="0" indent="0" algn="r">
              <a:buNone/>
            </a:pPr>
            <a:r>
              <a:rPr lang="en-US" sz="900" dirty="0">
                <a:solidFill>
                  <a:srgbClr val="5B6B85"/>
                </a:solidFill>
                <a:latin typeface="Calibri" pitchFamily="34" charset="0"/>
                <a:ea typeface="Calibri" pitchFamily="34" charset="-122"/>
                <a:cs typeface="Calibri" pitchFamily="34" charset="-120"/>
              </a:rPr>
              <a:t>9</a:t>
            </a:r>
            <a:endParaRPr lang="en-US" sz="900" dirty="0"/>
          </a:p>
        </p:txBody>
      </p:sp>
      <p:pic>
        <p:nvPicPr>
          <p:cNvPr id="10" name="Picture 9">
            <a:extLst>
              <a:ext uri="{FF2B5EF4-FFF2-40B4-BE49-F238E27FC236}">
                <a16:creationId xmlns:a16="http://schemas.microsoft.com/office/drawing/2014/main" id="{3FDB592B-618E-39AF-0231-DD14C60BC737}"/>
              </a:ext>
            </a:extLst>
          </p:cNvPr>
          <p:cNvPicPr>
            <a:picLocks noChangeAspect="1"/>
          </p:cNvPicPr>
          <p:nvPr/>
        </p:nvPicPr>
        <p:blipFill>
          <a:blip r:embed="rId3"/>
          <a:stretch>
            <a:fillRect/>
          </a:stretch>
        </p:blipFill>
        <p:spPr>
          <a:xfrm>
            <a:off x="2056275" y="1920240"/>
            <a:ext cx="8048970" cy="443502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B33"/>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50" b="1" kern="0" spc="200" dirty="0">
                <a:solidFill>
                  <a:srgbClr val="27E1C1"/>
                </a:solidFill>
                <a:latin typeface="Calibri" pitchFamily="34" charset="0"/>
                <a:ea typeface="Calibri" pitchFamily="34" charset="-122"/>
                <a:cs typeface="Calibri" pitchFamily="34" charset="-120"/>
              </a:rPr>
              <a:t>LIVE WALKTHROUGH  ·  STEP 2</a:t>
            </a:r>
            <a:endParaRPr lang="en-US" sz="1250" dirty="0"/>
          </a:p>
        </p:txBody>
      </p:sp>
      <p:sp>
        <p:nvSpPr>
          <p:cNvPr id="3" name="Text 1"/>
          <p:cNvSpPr/>
          <p:nvPr/>
        </p:nvSpPr>
        <p:spPr>
          <a:xfrm>
            <a:off x="548640" y="685800"/>
            <a:ext cx="960120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Instant Risk Score &amp; Security Findings</a:t>
            </a:r>
            <a:endParaRPr lang="en-US" sz="2800" dirty="0"/>
          </a:p>
        </p:txBody>
      </p:sp>
      <p:sp>
        <p:nvSpPr>
          <p:cNvPr id="4" name="Text 2"/>
          <p:cNvSpPr/>
          <p:nvPr/>
        </p:nvSpPr>
        <p:spPr>
          <a:xfrm>
            <a:off x="548640" y="1280160"/>
            <a:ext cx="10515600" cy="502920"/>
          </a:xfrm>
          <a:prstGeom prst="rect">
            <a:avLst/>
          </a:prstGeom>
          <a:noFill/>
          <a:ln/>
        </p:spPr>
        <p:txBody>
          <a:bodyPr wrap="square" rtlCol="0" anchor="ctr"/>
          <a:lstStyle/>
          <a:p>
            <a:pPr marL="0" indent="0">
              <a:buNone/>
            </a:pPr>
            <a:r>
              <a:rPr lang="en-US" sz="1250" dirty="0">
                <a:solidFill>
                  <a:srgbClr val="C7D2E8"/>
                </a:solidFill>
                <a:latin typeface="Calibri" pitchFamily="34" charset="0"/>
                <a:ea typeface="Calibri" pitchFamily="34" charset="-122"/>
                <a:cs typeface="Calibri" pitchFamily="34" charset="-120"/>
              </a:rPr>
              <a:t>For chmod 777 /var/www/html/script.sh with -rwxrwxrwx: a 5/100 score, Critical command &amp; permission risk, plain-language findings, and the transparent Thought → Action → Observation trace.</a:t>
            </a:r>
            <a:endParaRPr lang="en-US" sz="1250" dirty="0"/>
          </a:p>
        </p:txBody>
      </p:sp>
      <p:sp>
        <p:nvSpPr>
          <p:cNvPr id="5" name="Shape 3"/>
          <p:cNvSpPr/>
          <p:nvPr/>
        </p:nvSpPr>
        <p:spPr>
          <a:xfrm>
            <a:off x="1874520" y="1920240"/>
            <a:ext cx="8412480" cy="4526280"/>
          </a:xfrm>
          <a:prstGeom prst="roundRect">
            <a:avLst>
              <a:gd name="adj" fmla="val 1212"/>
            </a:avLst>
          </a:prstGeom>
          <a:solidFill>
            <a:srgbClr val="FFFFFF"/>
          </a:solidFill>
          <a:ln w="38100">
            <a:solidFill>
              <a:srgbClr val="17284A"/>
            </a:solidFill>
            <a:prstDash val="solid"/>
          </a:ln>
        </p:spPr>
      </p:sp>
      <p:sp>
        <p:nvSpPr>
          <p:cNvPr id="7" name="Text 4"/>
          <p:cNvSpPr/>
          <p:nvPr/>
        </p:nvSpPr>
        <p:spPr>
          <a:xfrm>
            <a:off x="457200" y="6510528"/>
            <a:ext cx="7315200" cy="274320"/>
          </a:xfrm>
          <a:prstGeom prst="rect">
            <a:avLst/>
          </a:prstGeom>
          <a:noFill/>
          <a:ln/>
        </p:spPr>
        <p:txBody>
          <a:bodyPr wrap="square" rtlCol="0" anchor="ctr"/>
          <a:lstStyle/>
          <a:p>
            <a:pPr marL="0" indent="0" algn="l">
              <a:buNone/>
            </a:pPr>
            <a:r>
              <a:rPr lang="en-US" sz="900" dirty="0">
                <a:solidFill>
                  <a:srgbClr val="5B6B85"/>
                </a:solidFill>
                <a:latin typeface="Calibri" pitchFamily="34" charset="0"/>
                <a:ea typeface="Calibri" pitchFamily="34" charset="-122"/>
                <a:cs typeface="Calibri" pitchFamily="34" charset="-120"/>
              </a:rPr>
              <a:t>AI Linux Security Assistant</a:t>
            </a:r>
            <a:endParaRPr lang="en-US" sz="900" dirty="0"/>
          </a:p>
        </p:txBody>
      </p:sp>
      <p:sp>
        <p:nvSpPr>
          <p:cNvPr id="8" name="Text 5"/>
          <p:cNvSpPr/>
          <p:nvPr/>
        </p:nvSpPr>
        <p:spPr>
          <a:xfrm>
            <a:off x="11247120" y="6510528"/>
            <a:ext cx="457200" cy="274320"/>
          </a:xfrm>
          <a:prstGeom prst="rect">
            <a:avLst/>
          </a:prstGeom>
          <a:noFill/>
          <a:ln/>
        </p:spPr>
        <p:txBody>
          <a:bodyPr wrap="square" rtlCol="0" anchor="ctr"/>
          <a:lstStyle/>
          <a:p>
            <a:pPr marL="0" indent="0" algn="r">
              <a:buNone/>
            </a:pPr>
            <a:r>
              <a:rPr lang="en-US" sz="900" dirty="0">
                <a:solidFill>
                  <a:srgbClr val="5B6B85"/>
                </a:solidFill>
                <a:latin typeface="Calibri" pitchFamily="34" charset="0"/>
                <a:ea typeface="Calibri" pitchFamily="34" charset="-122"/>
                <a:cs typeface="Calibri" pitchFamily="34" charset="-120"/>
              </a:rPr>
              <a:t>10</a:t>
            </a:r>
            <a:endParaRPr lang="en-US" sz="900" dirty="0"/>
          </a:p>
        </p:txBody>
      </p:sp>
      <p:pic>
        <p:nvPicPr>
          <p:cNvPr id="12" name="Picture 11">
            <a:extLst>
              <a:ext uri="{FF2B5EF4-FFF2-40B4-BE49-F238E27FC236}">
                <a16:creationId xmlns:a16="http://schemas.microsoft.com/office/drawing/2014/main" id="{E188C34E-A5EE-A86A-9BEE-286A6FF69163}"/>
              </a:ext>
            </a:extLst>
          </p:cNvPr>
          <p:cNvPicPr>
            <a:picLocks noChangeAspect="1"/>
          </p:cNvPicPr>
          <p:nvPr/>
        </p:nvPicPr>
        <p:blipFill>
          <a:blip r:embed="rId3"/>
          <a:stretch>
            <a:fillRect/>
          </a:stretch>
        </p:blipFill>
        <p:spPr>
          <a:xfrm>
            <a:off x="2067208" y="1971382"/>
            <a:ext cx="8057584" cy="442399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50" b="1" kern="0" spc="200" dirty="0">
                <a:solidFill>
                  <a:srgbClr val="17607D"/>
                </a:solidFill>
                <a:latin typeface="Calibri" pitchFamily="34" charset="0"/>
                <a:ea typeface="Calibri" pitchFamily="34" charset="-122"/>
                <a:cs typeface="Calibri" pitchFamily="34" charset="-120"/>
              </a:rPr>
              <a:t>LIVE WALKTHROUGH  ·  STEP 3</a:t>
            </a:r>
            <a:endParaRPr lang="en-US" sz="1250" dirty="0"/>
          </a:p>
        </p:txBody>
      </p:sp>
      <p:sp>
        <p:nvSpPr>
          <p:cNvPr id="3" name="Text 1"/>
          <p:cNvSpPr/>
          <p:nvPr/>
        </p:nvSpPr>
        <p:spPr>
          <a:xfrm>
            <a:off x="548640" y="685800"/>
            <a:ext cx="10789920" cy="731520"/>
          </a:xfrm>
          <a:prstGeom prst="rect">
            <a:avLst/>
          </a:prstGeom>
          <a:noFill/>
          <a:ln/>
        </p:spPr>
        <p:txBody>
          <a:bodyPr wrap="square" rtlCol="0" anchor="ctr"/>
          <a:lstStyle/>
          <a:p>
            <a:pPr marL="0" indent="0">
              <a:buNone/>
            </a:pPr>
            <a:r>
              <a:rPr lang="en-US" sz="3000" b="1" dirty="0">
                <a:solidFill>
                  <a:srgbClr val="16213A"/>
                </a:solidFill>
                <a:latin typeface="Cambria" pitchFamily="34" charset="0"/>
                <a:ea typeface="Cambria" pitchFamily="34" charset="-122"/>
                <a:cs typeface="Cambria" pitchFamily="34" charset="-120"/>
              </a:rPr>
              <a:t>One-Click Downloadable PDF Report</a:t>
            </a:r>
            <a:endParaRPr lang="en-US" sz="3000" dirty="0"/>
          </a:p>
        </p:txBody>
      </p:sp>
      <p:sp>
        <p:nvSpPr>
          <p:cNvPr id="4" name="Shape 2"/>
          <p:cNvSpPr/>
          <p:nvPr/>
        </p:nvSpPr>
        <p:spPr>
          <a:xfrm>
            <a:off x="548640" y="1645920"/>
            <a:ext cx="4846320" cy="4434840"/>
          </a:xfrm>
          <a:prstGeom prst="roundRect">
            <a:avLst>
              <a:gd name="adj" fmla="val 1237"/>
            </a:avLst>
          </a:prstGeom>
          <a:solidFill>
            <a:srgbClr val="FFFFFF"/>
          </a:solidFill>
          <a:ln w="19050">
            <a:solidFill>
              <a:srgbClr val="E1E7F0"/>
            </a:solidFill>
            <a:prstDash val="solid"/>
          </a:ln>
        </p:spPr>
      </p:sp>
      <p:pic>
        <p:nvPicPr>
          <p:cNvPr id="5" name="Image 0" descr="images/pdf_report.png"/>
          <p:cNvPicPr>
            <a:picLocks noChangeAspect="1"/>
          </p:cNvPicPr>
          <p:nvPr/>
        </p:nvPicPr>
        <p:blipFill>
          <a:blip r:embed="rId3"/>
          <a:srcRect/>
          <a:stretch/>
        </p:blipFill>
        <p:spPr>
          <a:xfrm>
            <a:off x="868680" y="1783080"/>
            <a:ext cx="4206240" cy="4160520"/>
          </a:xfrm>
          <a:prstGeom prst="rect">
            <a:avLst/>
          </a:prstGeom>
        </p:spPr>
      </p:pic>
      <p:sp>
        <p:nvSpPr>
          <p:cNvPr id="6" name="Shape 3"/>
          <p:cNvSpPr/>
          <p:nvPr/>
        </p:nvSpPr>
        <p:spPr>
          <a:xfrm>
            <a:off x="5806440" y="1783080"/>
            <a:ext cx="274320" cy="274320"/>
          </a:xfrm>
          <a:prstGeom prst="ellipse">
            <a:avLst/>
          </a:prstGeom>
          <a:solidFill>
            <a:srgbClr val="17607D"/>
          </a:solidFill>
          <a:ln/>
        </p:spPr>
      </p:sp>
      <p:sp>
        <p:nvSpPr>
          <p:cNvPr id="7" name="Text 4"/>
          <p:cNvSpPr/>
          <p:nvPr/>
        </p:nvSpPr>
        <p:spPr>
          <a:xfrm>
            <a:off x="5806440" y="1783080"/>
            <a:ext cx="274320" cy="274320"/>
          </a:xfrm>
          <a:prstGeom prst="rect">
            <a:avLst/>
          </a:prstGeom>
          <a:noFill/>
          <a:ln/>
        </p:spPr>
        <p:txBody>
          <a:bodyPr wrap="square" rtlCol="0" anchor="ctr"/>
          <a:lstStyle/>
          <a:p>
            <a:pPr marL="0" indent="0" algn="ctr">
              <a:buNone/>
            </a:pPr>
            <a:r>
              <a:rPr lang="en-US" sz="780" b="1" dirty="0">
                <a:solidFill>
                  <a:srgbClr val="FFFFFF"/>
                </a:solidFill>
                <a:latin typeface="Calibri" pitchFamily="34" charset="0"/>
                <a:ea typeface="Calibri" pitchFamily="34" charset="-122"/>
                <a:cs typeface="Calibri" pitchFamily="34" charset="-120"/>
              </a:rPr>
              <a:t>✓</a:t>
            </a:r>
            <a:endParaRPr lang="en-US" sz="780" dirty="0"/>
          </a:p>
        </p:txBody>
      </p:sp>
      <p:sp>
        <p:nvSpPr>
          <p:cNvPr id="8" name="Text 5"/>
          <p:cNvSpPr/>
          <p:nvPr/>
        </p:nvSpPr>
        <p:spPr>
          <a:xfrm>
            <a:off x="6263640" y="1728216"/>
            <a:ext cx="5349240" cy="548640"/>
          </a:xfrm>
          <a:prstGeom prst="rect">
            <a:avLst/>
          </a:prstGeom>
          <a:noFill/>
          <a:ln/>
        </p:spPr>
        <p:txBody>
          <a:bodyPr wrap="square" rtlCol="0" anchor="ctr"/>
          <a:lstStyle/>
          <a:p>
            <a:pPr marL="0" indent="0">
              <a:lnSpc>
                <a:spcPct val="120000"/>
              </a:lnSpc>
              <a:buNone/>
            </a:pPr>
            <a:r>
              <a:rPr lang="en-US" sz="1300" dirty="0">
                <a:solidFill>
                  <a:srgbClr val="16213A"/>
                </a:solidFill>
                <a:latin typeface="Calibri" pitchFamily="34" charset="0"/>
                <a:ea typeface="Calibri" pitchFamily="34" charset="-122"/>
                <a:cs typeface="Calibri" pitchFamily="34" charset="-120"/>
              </a:rPr>
              <a:t>Security score, command, and permission summary at a glance</a:t>
            </a:r>
            <a:endParaRPr lang="en-US" sz="1300" dirty="0"/>
          </a:p>
        </p:txBody>
      </p:sp>
      <p:sp>
        <p:nvSpPr>
          <p:cNvPr id="9" name="Shape 6"/>
          <p:cNvSpPr/>
          <p:nvPr/>
        </p:nvSpPr>
        <p:spPr>
          <a:xfrm>
            <a:off x="5806440" y="2560320"/>
            <a:ext cx="274320" cy="274320"/>
          </a:xfrm>
          <a:prstGeom prst="ellipse">
            <a:avLst/>
          </a:prstGeom>
          <a:solidFill>
            <a:srgbClr val="17607D"/>
          </a:solidFill>
          <a:ln/>
        </p:spPr>
      </p:sp>
      <p:sp>
        <p:nvSpPr>
          <p:cNvPr id="10" name="Text 7"/>
          <p:cNvSpPr/>
          <p:nvPr/>
        </p:nvSpPr>
        <p:spPr>
          <a:xfrm>
            <a:off x="5806440" y="2560320"/>
            <a:ext cx="274320" cy="274320"/>
          </a:xfrm>
          <a:prstGeom prst="rect">
            <a:avLst/>
          </a:prstGeom>
          <a:noFill/>
          <a:ln/>
        </p:spPr>
        <p:txBody>
          <a:bodyPr wrap="square" rtlCol="0" anchor="ctr"/>
          <a:lstStyle/>
          <a:p>
            <a:pPr marL="0" indent="0" algn="ctr">
              <a:buNone/>
            </a:pPr>
            <a:r>
              <a:rPr lang="en-US" sz="780" b="1" dirty="0">
                <a:solidFill>
                  <a:srgbClr val="FFFFFF"/>
                </a:solidFill>
                <a:latin typeface="Calibri" pitchFamily="34" charset="0"/>
                <a:ea typeface="Calibri" pitchFamily="34" charset="-122"/>
                <a:cs typeface="Calibri" pitchFamily="34" charset="-120"/>
              </a:rPr>
              <a:t>✓</a:t>
            </a:r>
            <a:endParaRPr lang="en-US" sz="780" dirty="0"/>
          </a:p>
        </p:txBody>
      </p:sp>
      <p:sp>
        <p:nvSpPr>
          <p:cNvPr id="11" name="Text 8"/>
          <p:cNvSpPr/>
          <p:nvPr/>
        </p:nvSpPr>
        <p:spPr>
          <a:xfrm>
            <a:off x="6263640" y="2505456"/>
            <a:ext cx="5349240" cy="548640"/>
          </a:xfrm>
          <a:prstGeom prst="rect">
            <a:avLst/>
          </a:prstGeom>
          <a:noFill/>
          <a:ln/>
        </p:spPr>
        <p:txBody>
          <a:bodyPr wrap="square" rtlCol="0" anchor="ctr"/>
          <a:lstStyle/>
          <a:p>
            <a:pPr marL="0" indent="0">
              <a:lnSpc>
                <a:spcPct val="120000"/>
              </a:lnSpc>
              <a:buNone/>
            </a:pPr>
            <a:r>
              <a:rPr lang="en-US" sz="1300" dirty="0">
                <a:solidFill>
                  <a:srgbClr val="16213A"/>
                </a:solidFill>
                <a:latin typeface="Calibri" pitchFamily="34" charset="0"/>
                <a:ea typeface="Calibri" pitchFamily="34" charset="-122"/>
                <a:cs typeface="Calibri" pitchFamily="34" charset="-120"/>
              </a:rPr>
              <a:t>Findings written in plain, beginner-friendly language</a:t>
            </a:r>
            <a:endParaRPr lang="en-US" sz="1300" dirty="0"/>
          </a:p>
        </p:txBody>
      </p:sp>
      <p:sp>
        <p:nvSpPr>
          <p:cNvPr id="12" name="Shape 9"/>
          <p:cNvSpPr/>
          <p:nvPr/>
        </p:nvSpPr>
        <p:spPr>
          <a:xfrm>
            <a:off x="5806440" y="3337560"/>
            <a:ext cx="274320" cy="274320"/>
          </a:xfrm>
          <a:prstGeom prst="ellipse">
            <a:avLst/>
          </a:prstGeom>
          <a:solidFill>
            <a:srgbClr val="17607D"/>
          </a:solidFill>
          <a:ln/>
        </p:spPr>
      </p:sp>
      <p:sp>
        <p:nvSpPr>
          <p:cNvPr id="13" name="Text 10"/>
          <p:cNvSpPr/>
          <p:nvPr/>
        </p:nvSpPr>
        <p:spPr>
          <a:xfrm>
            <a:off x="5806440" y="3337560"/>
            <a:ext cx="274320" cy="274320"/>
          </a:xfrm>
          <a:prstGeom prst="rect">
            <a:avLst/>
          </a:prstGeom>
          <a:noFill/>
          <a:ln/>
        </p:spPr>
        <p:txBody>
          <a:bodyPr wrap="square" rtlCol="0" anchor="ctr"/>
          <a:lstStyle/>
          <a:p>
            <a:pPr marL="0" indent="0" algn="ctr">
              <a:buNone/>
            </a:pPr>
            <a:r>
              <a:rPr lang="en-US" sz="780" b="1" dirty="0">
                <a:solidFill>
                  <a:srgbClr val="FFFFFF"/>
                </a:solidFill>
                <a:latin typeface="Calibri" pitchFamily="34" charset="0"/>
                <a:ea typeface="Calibri" pitchFamily="34" charset="-122"/>
                <a:cs typeface="Calibri" pitchFamily="34" charset="-120"/>
              </a:rPr>
              <a:t>✓</a:t>
            </a:r>
            <a:endParaRPr lang="en-US" sz="780" dirty="0"/>
          </a:p>
        </p:txBody>
      </p:sp>
      <p:sp>
        <p:nvSpPr>
          <p:cNvPr id="14" name="Text 11"/>
          <p:cNvSpPr/>
          <p:nvPr/>
        </p:nvSpPr>
        <p:spPr>
          <a:xfrm>
            <a:off x="6263640" y="3282696"/>
            <a:ext cx="5349240" cy="548640"/>
          </a:xfrm>
          <a:prstGeom prst="rect">
            <a:avLst/>
          </a:prstGeom>
          <a:noFill/>
          <a:ln/>
        </p:spPr>
        <p:txBody>
          <a:bodyPr wrap="square" rtlCol="0" anchor="ctr"/>
          <a:lstStyle/>
          <a:p>
            <a:pPr marL="0" indent="0">
              <a:lnSpc>
                <a:spcPct val="120000"/>
              </a:lnSpc>
              <a:buNone/>
            </a:pPr>
            <a:r>
              <a:rPr lang="en-US" sz="1300" dirty="0">
                <a:solidFill>
                  <a:srgbClr val="16213A"/>
                </a:solidFill>
                <a:latin typeface="Calibri" pitchFamily="34" charset="0"/>
                <a:ea typeface="Calibri" pitchFamily="34" charset="-122"/>
                <a:cs typeface="Calibri" pitchFamily="34" charset="-120"/>
              </a:rPr>
              <a:t>Recommended commands for the safer alternative</a:t>
            </a:r>
            <a:endParaRPr lang="en-US" sz="1300" dirty="0"/>
          </a:p>
        </p:txBody>
      </p:sp>
      <p:sp>
        <p:nvSpPr>
          <p:cNvPr id="15" name="Shape 12"/>
          <p:cNvSpPr/>
          <p:nvPr/>
        </p:nvSpPr>
        <p:spPr>
          <a:xfrm>
            <a:off x="5806440" y="4114800"/>
            <a:ext cx="274320" cy="274320"/>
          </a:xfrm>
          <a:prstGeom prst="ellipse">
            <a:avLst/>
          </a:prstGeom>
          <a:solidFill>
            <a:srgbClr val="17607D"/>
          </a:solidFill>
          <a:ln/>
        </p:spPr>
      </p:sp>
      <p:sp>
        <p:nvSpPr>
          <p:cNvPr id="16" name="Text 13"/>
          <p:cNvSpPr/>
          <p:nvPr/>
        </p:nvSpPr>
        <p:spPr>
          <a:xfrm>
            <a:off x="5806440" y="4114800"/>
            <a:ext cx="274320" cy="274320"/>
          </a:xfrm>
          <a:prstGeom prst="rect">
            <a:avLst/>
          </a:prstGeom>
          <a:noFill/>
          <a:ln/>
        </p:spPr>
        <p:txBody>
          <a:bodyPr wrap="square" rtlCol="0" anchor="ctr"/>
          <a:lstStyle/>
          <a:p>
            <a:pPr marL="0" indent="0" algn="ctr">
              <a:buNone/>
            </a:pPr>
            <a:r>
              <a:rPr lang="en-US" sz="780" b="1" dirty="0">
                <a:solidFill>
                  <a:srgbClr val="FFFFFF"/>
                </a:solidFill>
                <a:latin typeface="Calibri" pitchFamily="34" charset="0"/>
                <a:ea typeface="Calibri" pitchFamily="34" charset="-122"/>
                <a:cs typeface="Calibri" pitchFamily="34" charset="-120"/>
              </a:rPr>
              <a:t>✓</a:t>
            </a:r>
            <a:endParaRPr lang="en-US" sz="780" dirty="0"/>
          </a:p>
        </p:txBody>
      </p:sp>
      <p:sp>
        <p:nvSpPr>
          <p:cNvPr id="17" name="Text 14"/>
          <p:cNvSpPr/>
          <p:nvPr/>
        </p:nvSpPr>
        <p:spPr>
          <a:xfrm>
            <a:off x="6263640" y="4059936"/>
            <a:ext cx="5349240" cy="548640"/>
          </a:xfrm>
          <a:prstGeom prst="rect">
            <a:avLst/>
          </a:prstGeom>
          <a:noFill/>
          <a:ln/>
        </p:spPr>
        <p:txBody>
          <a:bodyPr wrap="square" rtlCol="0" anchor="ctr"/>
          <a:lstStyle/>
          <a:p>
            <a:pPr marL="0" indent="0">
              <a:lnSpc>
                <a:spcPct val="120000"/>
              </a:lnSpc>
              <a:buNone/>
            </a:pPr>
            <a:r>
              <a:rPr lang="en-US" sz="1300" dirty="0">
                <a:solidFill>
                  <a:srgbClr val="16213A"/>
                </a:solidFill>
                <a:latin typeface="Calibri" pitchFamily="34" charset="0"/>
                <a:ea typeface="Calibri" pitchFamily="34" charset="-122"/>
                <a:cs typeface="Calibri" pitchFamily="34" charset="-120"/>
              </a:rPr>
              <a:t>Full hardening checklist with example commands</a:t>
            </a:r>
            <a:endParaRPr lang="en-US" sz="1300" dirty="0"/>
          </a:p>
        </p:txBody>
      </p:sp>
      <p:sp>
        <p:nvSpPr>
          <p:cNvPr id="18" name="Shape 15"/>
          <p:cNvSpPr/>
          <p:nvPr/>
        </p:nvSpPr>
        <p:spPr>
          <a:xfrm>
            <a:off x="5806440" y="4892040"/>
            <a:ext cx="274320" cy="274320"/>
          </a:xfrm>
          <a:prstGeom prst="ellipse">
            <a:avLst/>
          </a:prstGeom>
          <a:solidFill>
            <a:srgbClr val="17607D"/>
          </a:solidFill>
          <a:ln/>
        </p:spPr>
      </p:sp>
      <p:sp>
        <p:nvSpPr>
          <p:cNvPr id="19" name="Text 16"/>
          <p:cNvSpPr/>
          <p:nvPr/>
        </p:nvSpPr>
        <p:spPr>
          <a:xfrm>
            <a:off x="5806440" y="4892040"/>
            <a:ext cx="274320" cy="274320"/>
          </a:xfrm>
          <a:prstGeom prst="rect">
            <a:avLst/>
          </a:prstGeom>
          <a:noFill/>
          <a:ln/>
        </p:spPr>
        <p:txBody>
          <a:bodyPr wrap="square" rtlCol="0" anchor="ctr"/>
          <a:lstStyle/>
          <a:p>
            <a:pPr marL="0" indent="0" algn="ctr">
              <a:buNone/>
            </a:pPr>
            <a:r>
              <a:rPr lang="en-US" sz="780" b="1" dirty="0">
                <a:solidFill>
                  <a:srgbClr val="FFFFFF"/>
                </a:solidFill>
                <a:latin typeface="Calibri" pitchFamily="34" charset="0"/>
                <a:ea typeface="Calibri" pitchFamily="34" charset="-122"/>
                <a:cs typeface="Calibri" pitchFamily="34" charset="-120"/>
              </a:rPr>
              <a:t>✓</a:t>
            </a:r>
            <a:endParaRPr lang="en-US" sz="780" dirty="0"/>
          </a:p>
        </p:txBody>
      </p:sp>
      <p:sp>
        <p:nvSpPr>
          <p:cNvPr id="20" name="Text 17"/>
          <p:cNvSpPr/>
          <p:nvPr/>
        </p:nvSpPr>
        <p:spPr>
          <a:xfrm>
            <a:off x="6263640" y="4837176"/>
            <a:ext cx="5349240" cy="548640"/>
          </a:xfrm>
          <a:prstGeom prst="rect">
            <a:avLst/>
          </a:prstGeom>
          <a:noFill/>
          <a:ln/>
        </p:spPr>
        <p:txBody>
          <a:bodyPr wrap="square" rtlCol="0" anchor="ctr"/>
          <a:lstStyle/>
          <a:p>
            <a:pPr marL="0" indent="0">
              <a:lnSpc>
                <a:spcPct val="120000"/>
              </a:lnSpc>
              <a:buNone/>
            </a:pPr>
            <a:r>
              <a:rPr lang="en-US" sz="1300" dirty="0">
                <a:solidFill>
                  <a:srgbClr val="16213A"/>
                </a:solidFill>
                <a:latin typeface="Calibri" pitchFamily="34" charset="0"/>
                <a:ea typeface="Calibri" pitchFamily="34" charset="-122"/>
                <a:cs typeface="Calibri" pitchFamily="34" charset="-120"/>
              </a:rPr>
              <a:t>Ready to submit as classroom / academic evidence</a:t>
            </a:r>
            <a:endParaRPr lang="en-US" sz="1300" dirty="0"/>
          </a:p>
        </p:txBody>
      </p:sp>
      <p:sp>
        <p:nvSpPr>
          <p:cNvPr id="21" name="Text 18"/>
          <p:cNvSpPr/>
          <p:nvPr/>
        </p:nvSpPr>
        <p:spPr>
          <a:xfrm>
            <a:off x="457200" y="6510528"/>
            <a:ext cx="7315200" cy="274320"/>
          </a:xfrm>
          <a:prstGeom prst="rect">
            <a:avLst/>
          </a:prstGeom>
          <a:noFill/>
          <a:ln/>
        </p:spPr>
        <p:txBody>
          <a:bodyPr wrap="square" rtlCol="0" anchor="ctr"/>
          <a:lstStyle/>
          <a:p>
            <a:pPr marL="0" indent="0" algn="l">
              <a:buNone/>
            </a:pPr>
            <a:r>
              <a:rPr lang="en-US" sz="900" dirty="0">
                <a:solidFill>
                  <a:srgbClr val="5B6B85"/>
                </a:solidFill>
                <a:latin typeface="Calibri" pitchFamily="34" charset="0"/>
                <a:ea typeface="Calibri" pitchFamily="34" charset="-122"/>
                <a:cs typeface="Calibri" pitchFamily="34" charset="-120"/>
              </a:rPr>
              <a:t>AI Linux Security Assistant</a:t>
            </a:r>
            <a:endParaRPr lang="en-US" sz="900" dirty="0"/>
          </a:p>
        </p:txBody>
      </p:sp>
      <p:sp>
        <p:nvSpPr>
          <p:cNvPr id="22" name="Text 19"/>
          <p:cNvSpPr/>
          <p:nvPr/>
        </p:nvSpPr>
        <p:spPr>
          <a:xfrm>
            <a:off x="11247120" y="6510528"/>
            <a:ext cx="457200" cy="274320"/>
          </a:xfrm>
          <a:prstGeom prst="rect">
            <a:avLst/>
          </a:prstGeom>
          <a:noFill/>
          <a:ln/>
        </p:spPr>
        <p:txBody>
          <a:bodyPr wrap="square" rtlCol="0" anchor="ctr"/>
          <a:lstStyle/>
          <a:p>
            <a:pPr marL="0" indent="0" algn="r">
              <a:buNone/>
            </a:pPr>
            <a:r>
              <a:rPr lang="en-US" sz="900" dirty="0">
                <a:solidFill>
                  <a:srgbClr val="5B6B85"/>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50" b="1" kern="0" spc="200" dirty="0">
                <a:solidFill>
                  <a:srgbClr val="17607D"/>
                </a:solidFill>
                <a:latin typeface="Calibri" pitchFamily="34" charset="0"/>
                <a:ea typeface="Calibri" pitchFamily="34" charset="-122"/>
                <a:cs typeface="Calibri" pitchFamily="34" charset="-120"/>
              </a:rPr>
              <a:t>SYSTEM TESTING</a:t>
            </a:r>
            <a:endParaRPr lang="en-US" sz="1250" dirty="0"/>
          </a:p>
        </p:txBody>
      </p:sp>
      <p:sp>
        <p:nvSpPr>
          <p:cNvPr id="3" name="Text 1"/>
          <p:cNvSpPr/>
          <p:nvPr/>
        </p:nvSpPr>
        <p:spPr>
          <a:xfrm>
            <a:off x="548640" y="685800"/>
            <a:ext cx="10789920" cy="731520"/>
          </a:xfrm>
          <a:prstGeom prst="rect">
            <a:avLst/>
          </a:prstGeom>
          <a:noFill/>
          <a:ln/>
        </p:spPr>
        <p:txBody>
          <a:bodyPr wrap="square" rtlCol="0" anchor="ctr"/>
          <a:lstStyle/>
          <a:p>
            <a:pPr marL="0" indent="0">
              <a:buNone/>
            </a:pPr>
            <a:r>
              <a:rPr lang="en-US" sz="3000" b="1" dirty="0">
                <a:solidFill>
                  <a:srgbClr val="16213A"/>
                </a:solidFill>
                <a:latin typeface="Cambria" pitchFamily="34" charset="0"/>
                <a:ea typeface="Cambria" pitchFamily="34" charset="-122"/>
                <a:cs typeface="Cambria" pitchFamily="34" charset="-120"/>
              </a:rPr>
              <a:t>Verified Across Representative Test Scenarios</a:t>
            </a:r>
            <a:endParaRPr lang="en-US" sz="3000" dirty="0"/>
          </a:p>
        </p:txBody>
      </p:sp>
      <p:sp>
        <p:nvSpPr>
          <p:cNvPr id="4" name="Shape 2"/>
          <p:cNvSpPr/>
          <p:nvPr/>
        </p:nvSpPr>
        <p:spPr>
          <a:xfrm>
            <a:off x="548640" y="1691640"/>
            <a:ext cx="2834640" cy="4114800"/>
          </a:xfrm>
          <a:prstGeom prst="roundRect">
            <a:avLst>
              <a:gd name="adj" fmla="val 3226"/>
            </a:avLst>
          </a:prstGeom>
          <a:solidFill>
            <a:srgbClr val="0F1B33"/>
          </a:solidFill>
          <a:ln/>
        </p:spPr>
      </p:sp>
      <p:sp>
        <p:nvSpPr>
          <p:cNvPr id="5" name="Text 3"/>
          <p:cNvSpPr/>
          <p:nvPr/>
        </p:nvSpPr>
        <p:spPr>
          <a:xfrm>
            <a:off x="548640" y="2194560"/>
            <a:ext cx="2834640" cy="1005840"/>
          </a:xfrm>
          <a:prstGeom prst="rect">
            <a:avLst/>
          </a:prstGeom>
          <a:noFill/>
          <a:ln/>
        </p:spPr>
        <p:txBody>
          <a:bodyPr wrap="square" rtlCol="0" anchor="ctr"/>
          <a:lstStyle/>
          <a:p>
            <a:pPr marL="0" indent="0" algn="ctr">
              <a:buNone/>
            </a:pPr>
            <a:r>
              <a:rPr lang="en-US" sz="5200" b="1" dirty="0">
                <a:solidFill>
                  <a:srgbClr val="27E1C1"/>
                </a:solidFill>
                <a:latin typeface="Cambria" pitchFamily="34" charset="0"/>
                <a:ea typeface="Cambria" pitchFamily="34" charset="-122"/>
                <a:cs typeface="Cambria" pitchFamily="34" charset="-120"/>
              </a:rPr>
              <a:t>7 / 7</a:t>
            </a:r>
            <a:endParaRPr lang="en-US" sz="5200" dirty="0"/>
          </a:p>
        </p:txBody>
      </p:sp>
      <p:sp>
        <p:nvSpPr>
          <p:cNvPr id="6" name="Text 4"/>
          <p:cNvSpPr/>
          <p:nvPr/>
        </p:nvSpPr>
        <p:spPr>
          <a:xfrm>
            <a:off x="548640" y="3154680"/>
            <a:ext cx="2834640" cy="320040"/>
          </a:xfrm>
          <a:prstGeom prst="rect">
            <a:avLst/>
          </a:prstGeom>
          <a:noFill/>
          <a:ln/>
        </p:spPr>
        <p:txBody>
          <a:bodyPr wrap="square" rtlCol="0" anchor="ctr"/>
          <a:lstStyle/>
          <a:p>
            <a:pPr marL="0" indent="0" algn="ctr">
              <a:buNone/>
            </a:pPr>
            <a:r>
              <a:rPr lang="en-US" sz="1150" b="1" kern="0" spc="150" dirty="0">
                <a:solidFill>
                  <a:srgbClr val="FFFFFF"/>
                </a:solidFill>
                <a:latin typeface="Calibri" pitchFamily="34" charset="0"/>
                <a:ea typeface="Calibri" pitchFamily="34" charset="-122"/>
                <a:cs typeface="Calibri" pitchFamily="34" charset="-120"/>
              </a:rPr>
              <a:t>TEST CASES PASSED</a:t>
            </a:r>
            <a:endParaRPr lang="en-US" sz="1150" dirty="0"/>
          </a:p>
        </p:txBody>
      </p:sp>
      <p:sp>
        <p:nvSpPr>
          <p:cNvPr id="7" name="Shape 5"/>
          <p:cNvSpPr/>
          <p:nvPr/>
        </p:nvSpPr>
        <p:spPr>
          <a:xfrm>
            <a:off x="1051560" y="3657600"/>
            <a:ext cx="1828800" cy="0"/>
          </a:xfrm>
          <a:prstGeom prst="line">
            <a:avLst/>
          </a:prstGeom>
          <a:noFill/>
          <a:ln w="19050">
            <a:solidFill>
              <a:srgbClr val="17607D"/>
            </a:solidFill>
            <a:prstDash val="solid"/>
          </a:ln>
        </p:spPr>
      </p:sp>
      <p:sp>
        <p:nvSpPr>
          <p:cNvPr id="8" name="Text 6"/>
          <p:cNvSpPr/>
          <p:nvPr/>
        </p:nvSpPr>
        <p:spPr>
          <a:xfrm>
            <a:off x="868680" y="3886200"/>
            <a:ext cx="2286000" cy="1737360"/>
          </a:xfrm>
          <a:prstGeom prst="rect">
            <a:avLst/>
          </a:prstGeom>
          <a:noFill/>
          <a:ln/>
        </p:spPr>
        <p:txBody>
          <a:bodyPr wrap="square" rtlCol="0" anchor="ctr"/>
          <a:lstStyle/>
          <a:p>
            <a:pPr marL="0" indent="0" algn="ctr">
              <a:lnSpc>
                <a:spcPct val="130000"/>
              </a:lnSpc>
              <a:buNone/>
            </a:pPr>
            <a:r>
              <a:rPr lang="en-US" sz="1100" dirty="0">
                <a:solidFill>
                  <a:srgbClr val="C7D2E8"/>
                </a:solidFill>
                <a:latin typeface="Calibri" pitchFamily="34" charset="0"/>
                <a:ea typeface="Calibri" pitchFamily="34" charset="-122"/>
                <a:cs typeface="Calibri" pitchFamily="34" charset="-120"/>
              </a:rPr>
              <a:t>Covering chmod risk, world-writable permissions, safe low-risk modes, recursive deletion, remote-script execution, SSH usage &amp; malformed input handling.</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657600" y="1691640"/>
          <a:ext cx="7955280" cy="4023360"/>
        </p:xfrm>
        <a:graphic>
          <a:graphicData uri="http://schemas.openxmlformats.org/drawingml/2006/table">
            <a:tbl>
              <a:tblPr/>
              <a:tblGrid>
                <a:gridCol w="777240">
                  <a:extLst>
                    <a:ext uri="{9D8B030D-6E8A-4147-A177-3AD203B41FA5}">
                      <a16:colId xmlns:a16="http://schemas.microsoft.com/office/drawing/2014/main" val="20000"/>
                    </a:ext>
                  </a:extLst>
                </a:gridCol>
                <a:gridCol w="288036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502920">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ID</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17607D"/>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Scenario</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17607D"/>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Expected Result</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17607D"/>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Status</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17607D"/>
                    </a:solidFill>
                  </a:tcPr>
                </a:tc>
                <a:extLst>
                  <a:ext uri="{0D108BD9-81ED-4DB2-BD59-A6C34878D82A}">
                    <a16:rowId xmlns:a16="http://schemas.microsoft.com/office/drawing/2014/main" val="10000"/>
                  </a:ext>
                </a:extLst>
              </a:tr>
              <a:tr h="502920">
                <a:tc>
                  <a:txBody>
                    <a:bodyPr/>
                    <a:lstStyle/>
                    <a:p>
                      <a:pPr marL="0" indent="0">
                        <a:buNone/>
                      </a:pPr>
                      <a:r>
                        <a:rPr lang="en-US" sz="1050" dirty="0">
                          <a:solidFill>
                            <a:srgbClr val="16213A"/>
                          </a:solidFill>
                          <a:latin typeface="Calibri" pitchFamily="34" charset="0"/>
                          <a:ea typeface="Calibri" pitchFamily="34" charset="-122"/>
                          <a:cs typeface="Calibri" pitchFamily="34" charset="-120"/>
                        </a:rPr>
                        <a:t>TC01</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tcPr>
                </a:tc>
                <a:tc>
                  <a:txBody>
                    <a:bodyPr/>
                    <a:lstStyle/>
                    <a:p>
                      <a:pPr marL="0" indent="0">
                        <a:buNone/>
                      </a:pPr>
                      <a:r>
                        <a:rPr lang="en-US" sz="1050" dirty="0">
                          <a:solidFill>
                            <a:srgbClr val="16213A"/>
                          </a:solidFill>
                          <a:latin typeface="Calibri" pitchFamily="34" charset="0"/>
                          <a:ea typeface="Calibri" pitchFamily="34" charset="-122"/>
                          <a:cs typeface="Calibri" pitchFamily="34" charset="-120"/>
                        </a:rPr>
                        <a:t>chmod 777 file.txt</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tcPr>
                </a:tc>
                <a:tc>
                  <a:txBody>
                    <a:bodyPr/>
                    <a:lstStyle/>
                    <a:p>
                      <a:pPr marL="0" indent="0">
                        <a:buNone/>
                      </a:pPr>
                      <a:r>
                        <a:rPr lang="en-US" sz="1050" dirty="0">
                          <a:solidFill>
                            <a:srgbClr val="16213A"/>
                          </a:solidFill>
                          <a:latin typeface="Calibri" pitchFamily="34" charset="0"/>
                          <a:ea typeface="Calibri" pitchFamily="34" charset="-122"/>
                          <a:cs typeface="Calibri" pitchFamily="34" charset="-120"/>
                        </a:rPr>
                        <a:t>Critical risk + safer 750/640 suggestion</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tcPr>
                </a:tc>
                <a:tc>
                  <a:txBody>
                    <a:bodyPr/>
                    <a:lstStyle/>
                    <a:p>
                      <a:pPr marL="0" indent="0">
                        <a:buNone/>
                      </a:pPr>
                      <a:r>
                        <a:rPr lang="en-US" sz="1050" b="1" dirty="0">
                          <a:solidFill>
                            <a:srgbClr val="146356"/>
                          </a:solidFill>
                          <a:latin typeface="Calibri" pitchFamily="34" charset="0"/>
                          <a:ea typeface="Calibri" pitchFamily="34" charset="-122"/>
                          <a:cs typeface="Calibri" pitchFamily="34" charset="-120"/>
                        </a:rPr>
                        <a:t>Pass</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buNone/>
                      </a:pPr>
                      <a:r>
                        <a:rPr lang="en-US" sz="1050" dirty="0">
                          <a:solidFill>
                            <a:srgbClr val="16213A"/>
                          </a:solidFill>
                          <a:latin typeface="Calibri" pitchFamily="34" charset="0"/>
                          <a:ea typeface="Calibri" pitchFamily="34" charset="-122"/>
                          <a:cs typeface="Calibri" pitchFamily="34" charset="-120"/>
                        </a:rPr>
                        <a:t>TC02</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tcPr>
                </a:tc>
                <a:tc>
                  <a:txBody>
                    <a:bodyPr/>
                    <a:lstStyle/>
                    <a:p>
                      <a:pPr marL="0" indent="0">
                        <a:buNone/>
                      </a:pPr>
                      <a:r>
                        <a:rPr lang="en-US" sz="1050" dirty="0">
                          <a:solidFill>
                            <a:srgbClr val="16213A"/>
                          </a:solidFill>
                          <a:latin typeface="Calibri" pitchFamily="34" charset="0"/>
                          <a:ea typeface="Calibri" pitchFamily="34" charset="-122"/>
                          <a:cs typeface="Calibri" pitchFamily="34" charset="-120"/>
                        </a:rPr>
                        <a:t>Permission string -rwxrwxrwx</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tcPr>
                </a:tc>
                <a:tc>
                  <a:txBody>
                    <a:bodyPr/>
                    <a:lstStyle/>
                    <a:p>
                      <a:pPr marL="0" indent="0">
                        <a:buNone/>
                      </a:pPr>
                      <a:r>
                        <a:rPr lang="en-US" sz="1050" dirty="0">
                          <a:solidFill>
                            <a:srgbClr val="16213A"/>
                          </a:solidFill>
                          <a:latin typeface="Calibri" pitchFamily="34" charset="0"/>
                          <a:ea typeface="Calibri" pitchFamily="34" charset="-122"/>
                          <a:cs typeface="Calibri" pitchFamily="34" charset="-120"/>
                        </a:rPr>
                        <a:t>World-writable &amp; world-executable findings</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tcPr>
                </a:tc>
                <a:tc>
                  <a:txBody>
                    <a:bodyPr/>
                    <a:lstStyle/>
                    <a:p>
                      <a:pPr marL="0" indent="0">
                        <a:buNone/>
                      </a:pPr>
                      <a:r>
                        <a:rPr lang="en-US" sz="1050" b="1" dirty="0">
                          <a:solidFill>
                            <a:srgbClr val="146356"/>
                          </a:solidFill>
                          <a:latin typeface="Calibri" pitchFamily="34" charset="0"/>
                          <a:ea typeface="Calibri" pitchFamily="34" charset="-122"/>
                          <a:cs typeface="Calibri" pitchFamily="34" charset="-120"/>
                        </a:rPr>
                        <a:t>Pass</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tcPr>
                </a:tc>
                <a:extLst>
                  <a:ext uri="{0D108BD9-81ED-4DB2-BD59-A6C34878D82A}">
                    <a16:rowId xmlns:a16="http://schemas.microsoft.com/office/drawing/2014/main" val="10002"/>
                  </a:ext>
                </a:extLst>
              </a:tr>
              <a:tr h="502920">
                <a:tc>
                  <a:txBody>
                    <a:bodyPr/>
                    <a:lstStyle/>
                    <a:p>
                      <a:pPr marL="0" indent="0">
                        <a:buNone/>
                      </a:pPr>
                      <a:r>
                        <a:rPr lang="en-US" sz="1050" dirty="0">
                          <a:solidFill>
                            <a:srgbClr val="16213A"/>
                          </a:solidFill>
                          <a:latin typeface="Calibri" pitchFamily="34" charset="0"/>
                          <a:ea typeface="Calibri" pitchFamily="34" charset="-122"/>
                          <a:cs typeface="Calibri" pitchFamily="34" charset="-120"/>
                        </a:rPr>
                        <a:t>TC03</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tcPr>
                </a:tc>
                <a:tc>
                  <a:txBody>
                    <a:bodyPr/>
                    <a:lstStyle/>
                    <a:p>
                      <a:pPr marL="0" indent="0">
                        <a:buNone/>
                      </a:pPr>
                      <a:r>
                        <a:rPr lang="en-US" sz="1050" dirty="0">
                          <a:solidFill>
                            <a:srgbClr val="16213A"/>
                          </a:solidFill>
                          <a:latin typeface="Calibri" pitchFamily="34" charset="0"/>
                          <a:ea typeface="Calibri" pitchFamily="34" charset="-122"/>
                          <a:cs typeface="Calibri" pitchFamily="34" charset="-120"/>
                        </a:rPr>
                        <a:t>chmod 640 file.txt</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tcPr>
                </a:tc>
                <a:tc>
                  <a:txBody>
                    <a:bodyPr/>
                    <a:lstStyle/>
                    <a:p>
                      <a:pPr marL="0" indent="0">
                        <a:buNone/>
                      </a:pPr>
                      <a:r>
                        <a:rPr lang="en-US" sz="1050" dirty="0">
                          <a:solidFill>
                            <a:srgbClr val="16213A"/>
                          </a:solidFill>
                          <a:latin typeface="Calibri" pitchFamily="34" charset="0"/>
                          <a:ea typeface="Calibri" pitchFamily="34" charset="-122"/>
                          <a:cs typeface="Calibri" pitchFamily="34" charset="-120"/>
                        </a:rPr>
                        <a:t>Low risk, numeric mode 640 confirmed</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tcPr>
                </a:tc>
                <a:tc>
                  <a:txBody>
                    <a:bodyPr/>
                    <a:lstStyle/>
                    <a:p>
                      <a:pPr marL="0" indent="0">
                        <a:buNone/>
                      </a:pPr>
                      <a:r>
                        <a:rPr lang="en-US" sz="1050" b="1" dirty="0">
                          <a:solidFill>
                            <a:srgbClr val="146356"/>
                          </a:solidFill>
                          <a:latin typeface="Calibri" pitchFamily="34" charset="0"/>
                          <a:ea typeface="Calibri" pitchFamily="34" charset="-122"/>
                          <a:cs typeface="Calibri" pitchFamily="34" charset="-120"/>
                        </a:rPr>
                        <a:t>Pass</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tcPr>
                </a:tc>
                <a:extLst>
                  <a:ext uri="{0D108BD9-81ED-4DB2-BD59-A6C34878D82A}">
                    <a16:rowId xmlns:a16="http://schemas.microsoft.com/office/drawing/2014/main" val="10003"/>
                  </a:ext>
                </a:extLst>
              </a:tr>
              <a:tr h="502920">
                <a:tc>
                  <a:txBody>
                    <a:bodyPr/>
                    <a:lstStyle/>
                    <a:p>
                      <a:pPr marL="0" indent="0">
                        <a:buNone/>
                      </a:pPr>
                      <a:r>
                        <a:rPr lang="en-US" sz="1050" dirty="0">
                          <a:solidFill>
                            <a:srgbClr val="16213A"/>
                          </a:solidFill>
                          <a:latin typeface="Calibri" pitchFamily="34" charset="0"/>
                          <a:ea typeface="Calibri" pitchFamily="34" charset="-122"/>
                          <a:cs typeface="Calibri" pitchFamily="34" charset="-120"/>
                        </a:rPr>
                        <a:t>TC04</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tcPr>
                </a:tc>
                <a:tc>
                  <a:txBody>
                    <a:bodyPr/>
                    <a:lstStyle/>
                    <a:p>
                      <a:pPr marL="0" indent="0">
                        <a:buNone/>
                      </a:pPr>
                      <a:r>
                        <a:rPr lang="en-US" sz="1050" dirty="0">
                          <a:solidFill>
                            <a:srgbClr val="16213A"/>
                          </a:solidFill>
                          <a:latin typeface="Calibri" pitchFamily="34" charset="0"/>
                          <a:ea typeface="Calibri" pitchFamily="34" charset="-122"/>
                          <a:cs typeface="Calibri" pitchFamily="34" charset="-120"/>
                        </a:rPr>
                        <a:t>rm -rf /var/tmp/testdir</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tcPr>
                </a:tc>
                <a:tc>
                  <a:txBody>
                    <a:bodyPr/>
                    <a:lstStyle/>
                    <a:p>
                      <a:pPr marL="0" indent="0">
                        <a:buNone/>
                      </a:pPr>
                      <a:r>
                        <a:rPr lang="en-US" sz="1050" dirty="0">
                          <a:solidFill>
                            <a:srgbClr val="16213A"/>
                          </a:solidFill>
                          <a:latin typeface="Calibri" pitchFamily="34" charset="0"/>
                          <a:ea typeface="Calibri" pitchFamily="34" charset="-122"/>
                          <a:cs typeface="Calibri" pitchFamily="34" charset="-120"/>
                        </a:rPr>
                        <a:t>High/Critical warning on recursive delete</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tcPr>
                </a:tc>
                <a:tc>
                  <a:txBody>
                    <a:bodyPr/>
                    <a:lstStyle/>
                    <a:p>
                      <a:pPr marL="0" indent="0">
                        <a:buNone/>
                      </a:pPr>
                      <a:r>
                        <a:rPr lang="en-US" sz="1050" b="1" dirty="0">
                          <a:solidFill>
                            <a:srgbClr val="146356"/>
                          </a:solidFill>
                          <a:latin typeface="Calibri" pitchFamily="34" charset="0"/>
                          <a:ea typeface="Calibri" pitchFamily="34" charset="-122"/>
                          <a:cs typeface="Calibri" pitchFamily="34" charset="-120"/>
                        </a:rPr>
                        <a:t>Pass</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tcPr>
                </a:tc>
                <a:extLst>
                  <a:ext uri="{0D108BD9-81ED-4DB2-BD59-A6C34878D82A}">
                    <a16:rowId xmlns:a16="http://schemas.microsoft.com/office/drawing/2014/main" val="10004"/>
                  </a:ext>
                </a:extLst>
              </a:tr>
              <a:tr h="502920">
                <a:tc>
                  <a:txBody>
                    <a:bodyPr/>
                    <a:lstStyle/>
                    <a:p>
                      <a:pPr marL="0" indent="0">
                        <a:buNone/>
                      </a:pPr>
                      <a:r>
                        <a:rPr lang="en-US" sz="1050" dirty="0">
                          <a:solidFill>
                            <a:srgbClr val="16213A"/>
                          </a:solidFill>
                          <a:latin typeface="Calibri" pitchFamily="34" charset="0"/>
                          <a:ea typeface="Calibri" pitchFamily="34" charset="-122"/>
                          <a:cs typeface="Calibri" pitchFamily="34" charset="-120"/>
                        </a:rPr>
                        <a:t>TC05</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tcPr>
                </a:tc>
                <a:tc>
                  <a:txBody>
                    <a:bodyPr/>
                    <a:lstStyle/>
                    <a:p>
                      <a:pPr marL="0" indent="0">
                        <a:buNone/>
                      </a:pPr>
                      <a:r>
                        <a:rPr lang="en-US" sz="1050" dirty="0">
                          <a:solidFill>
                            <a:srgbClr val="16213A"/>
                          </a:solidFill>
                          <a:latin typeface="Calibri" pitchFamily="34" charset="0"/>
                          <a:ea typeface="Calibri" pitchFamily="34" charset="-122"/>
                          <a:cs typeface="Calibri" pitchFamily="34" charset="-120"/>
                        </a:rPr>
                        <a:t>curl http://x | sh</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tcPr>
                </a:tc>
                <a:tc>
                  <a:txBody>
                    <a:bodyPr/>
                    <a:lstStyle/>
                    <a:p>
                      <a:pPr marL="0" indent="0">
                        <a:buNone/>
                      </a:pPr>
                      <a:r>
                        <a:rPr lang="en-US" sz="1050" dirty="0">
                          <a:solidFill>
                            <a:srgbClr val="16213A"/>
                          </a:solidFill>
                          <a:latin typeface="Calibri" pitchFamily="34" charset="0"/>
                          <a:ea typeface="Calibri" pitchFamily="34" charset="-122"/>
                          <a:cs typeface="Calibri" pitchFamily="34" charset="-120"/>
                        </a:rPr>
                        <a:t>Critical warning on piping remote code</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tcPr>
                </a:tc>
                <a:tc>
                  <a:txBody>
                    <a:bodyPr/>
                    <a:lstStyle/>
                    <a:p>
                      <a:pPr marL="0" indent="0">
                        <a:buNone/>
                      </a:pPr>
                      <a:r>
                        <a:rPr lang="en-US" sz="1050" b="1" dirty="0">
                          <a:solidFill>
                            <a:srgbClr val="146356"/>
                          </a:solidFill>
                          <a:latin typeface="Calibri" pitchFamily="34" charset="0"/>
                          <a:ea typeface="Calibri" pitchFamily="34" charset="-122"/>
                          <a:cs typeface="Calibri" pitchFamily="34" charset="-120"/>
                        </a:rPr>
                        <a:t>Pass</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tcPr>
                </a:tc>
                <a:extLst>
                  <a:ext uri="{0D108BD9-81ED-4DB2-BD59-A6C34878D82A}">
                    <a16:rowId xmlns:a16="http://schemas.microsoft.com/office/drawing/2014/main" val="10005"/>
                  </a:ext>
                </a:extLst>
              </a:tr>
              <a:tr h="502920">
                <a:tc>
                  <a:txBody>
                    <a:bodyPr/>
                    <a:lstStyle/>
                    <a:p>
                      <a:pPr marL="0" indent="0">
                        <a:buNone/>
                      </a:pPr>
                      <a:r>
                        <a:rPr lang="en-US" sz="1050" dirty="0">
                          <a:solidFill>
                            <a:srgbClr val="16213A"/>
                          </a:solidFill>
                          <a:latin typeface="Calibri" pitchFamily="34" charset="0"/>
                          <a:ea typeface="Calibri" pitchFamily="34" charset="-122"/>
                          <a:cs typeface="Calibri" pitchFamily="34" charset="-120"/>
                        </a:rPr>
                        <a:t>TC06</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tcPr>
                </a:tc>
                <a:tc>
                  <a:txBody>
                    <a:bodyPr/>
                    <a:lstStyle/>
                    <a:p>
                      <a:pPr marL="0" indent="0">
                        <a:buNone/>
                      </a:pPr>
                      <a:r>
                        <a:rPr lang="en-US" sz="1050" dirty="0">
                          <a:solidFill>
                            <a:srgbClr val="16213A"/>
                          </a:solidFill>
                          <a:latin typeface="Calibri" pitchFamily="34" charset="0"/>
                          <a:ea typeface="Calibri" pitchFamily="34" charset="-122"/>
                          <a:cs typeface="Calibri" pitchFamily="34" charset="-120"/>
                        </a:rPr>
                        <a:t>ssh user@server</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tcPr>
                </a:tc>
                <a:tc>
                  <a:txBody>
                    <a:bodyPr/>
                    <a:lstStyle/>
                    <a:p>
                      <a:pPr marL="0" indent="0">
                        <a:buNone/>
                      </a:pPr>
                      <a:r>
                        <a:rPr lang="en-US" sz="1050" dirty="0">
                          <a:solidFill>
                            <a:srgbClr val="16213A"/>
                          </a:solidFill>
                          <a:latin typeface="Calibri" pitchFamily="34" charset="0"/>
                          <a:ea typeface="Calibri" pitchFamily="34" charset="-122"/>
                          <a:cs typeface="Calibri" pitchFamily="34" charset="-120"/>
                        </a:rPr>
                        <a:t>Purpose explained + key-based auth advice</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tcPr>
                </a:tc>
                <a:tc>
                  <a:txBody>
                    <a:bodyPr/>
                    <a:lstStyle/>
                    <a:p>
                      <a:pPr marL="0" indent="0">
                        <a:buNone/>
                      </a:pPr>
                      <a:r>
                        <a:rPr lang="en-US" sz="1050" b="1" dirty="0">
                          <a:solidFill>
                            <a:srgbClr val="146356"/>
                          </a:solidFill>
                          <a:latin typeface="Calibri" pitchFamily="34" charset="0"/>
                          <a:ea typeface="Calibri" pitchFamily="34" charset="-122"/>
                          <a:cs typeface="Calibri" pitchFamily="34" charset="-120"/>
                        </a:rPr>
                        <a:t>Pass</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tcPr>
                </a:tc>
                <a:extLst>
                  <a:ext uri="{0D108BD9-81ED-4DB2-BD59-A6C34878D82A}">
                    <a16:rowId xmlns:a16="http://schemas.microsoft.com/office/drawing/2014/main" val="10006"/>
                  </a:ext>
                </a:extLst>
              </a:tr>
              <a:tr h="502920">
                <a:tc>
                  <a:txBody>
                    <a:bodyPr/>
                    <a:lstStyle/>
                    <a:p>
                      <a:pPr marL="0" indent="0">
                        <a:buNone/>
                      </a:pPr>
                      <a:r>
                        <a:rPr lang="en-US" sz="1050" dirty="0">
                          <a:solidFill>
                            <a:srgbClr val="16213A"/>
                          </a:solidFill>
                          <a:latin typeface="Calibri" pitchFamily="34" charset="0"/>
                          <a:ea typeface="Calibri" pitchFamily="34" charset="-122"/>
                          <a:cs typeface="Calibri" pitchFamily="34" charset="-120"/>
                        </a:rPr>
                        <a:t>TC07</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tcPr>
                </a:tc>
                <a:tc>
                  <a:txBody>
                    <a:bodyPr/>
                    <a:lstStyle/>
                    <a:p>
                      <a:pPr marL="0" indent="0">
                        <a:buNone/>
                      </a:pPr>
                      <a:r>
                        <a:rPr lang="en-US" sz="1050" dirty="0">
                          <a:solidFill>
                            <a:srgbClr val="16213A"/>
                          </a:solidFill>
                          <a:latin typeface="Calibri" pitchFamily="34" charset="0"/>
                          <a:ea typeface="Calibri" pitchFamily="34" charset="-122"/>
                          <a:cs typeface="Calibri" pitchFamily="34" charset="-120"/>
                        </a:rPr>
                        <a:t>Malformed permission input</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tcPr>
                </a:tc>
                <a:tc>
                  <a:txBody>
                    <a:bodyPr/>
                    <a:lstStyle/>
                    <a:p>
                      <a:pPr marL="0" indent="0">
                        <a:buNone/>
                      </a:pPr>
                      <a:r>
                        <a:rPr lang="en-US" sz="1050" dirty="0">
                          <a:solidFill>
                            <a:srgbClr val="16213A"/>
                          </a:solidFill>
                          <a:latin typeface="Calibri" pitchFamily="34" charset="0"/>
                          <a:ea typeface="Calibri" pitchFamily="34" charset="-122"/>
                          <a:cs typeface="Calibri" pitchFamily="34" charset="-120"/>
                        </a:rPr>
                        <a:t>Friendly format guidance, no crash</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tcPr>
                </a:tc>
                <a:tc>
                  <a:txBody>
                    <a:bodyPr/>
                    <a:lstStyle/>
                    <a:p>
                      <a:pPr marL="0" indent="0">
                        <a:buNone/>
                      </a:pPr>
                      <a:r>
                        <a:rPr lang="en-US" sz="1050" b="1" dirty="0">
                          <a:solidFill>
                            <a:srgbClr val="146356"/>
                          </a:solidFill>
                          <a:latin typeface="Calibri" pitchFamily="34" charset="0"/>
                          <a:ea typeface="Calibri" pitchFamily="34" charset="-122"/>
                          <a:cs typeface="Calibri" pitchFamily="34" charset="-120"/>
                        </a:rPr>
                        <a:t>Pass</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10" name="Text 7"/>
          <p:cNvSpPr/>
          <p:nvPr/>
        </p:nvSpPr>
        <p:spPr>
          <a:xfrm>
            <a:off x="457200" y="6510528"/>
            <a:ext cx="7315200" cy="274320"/>
          </a:xfrm>
          <a:prstGeom prst="rect">
            <a:avLst/>
          </a:prstGeom>
          <a:noFill/>
          <a:ln/>
        </p:spPr>
        <p:txBody>
          <a:bodyPr wrap="square" rtlCol="0" anchor="ctr"/>
          <a:lstStyle/>
          <a:p>
            <a:pPr marL="0" indent="0" algn="l">
              <a:buNone/>
            </a:pPr>
            <a:r>
              <a:rPr lang="en-US" sz="900" dirty="0">
                <a:solidFill>
                  <a:srgbClr val="5B6B85"/>
                </a:solidFill>
                <a:latin typeface="Calibri" pitchFamily="34" charset="0"/>
                <a:ea typeface="Calibri" pitchFamily="34" charset="-122"/>
                <a:cs typeface="Calibri" pitchFamily="34" charset="-120"/>
              </a:rPr>
              <a:t>AI Linux Security Assistant</a:t>
            </a:r>
            <a:endParaRPr lang="en-US" sz="900" dirty="0"/>
          </a:p>
        </p:txBody>
      </p:sp>
      <p:sp>
        <p:nvSpPr>
          <p:cNvPr id="11" name="Text 8"/>
          <p:cNvSpPr/>
          <p:nvPr/>
        </p:nvSpPr>
        <p:spPr>
          <a:xfrm>
            <a:off x="11247120" y="6510528"/>
            <a:ext cx="457200" cy="274320"/>
          </a:xfrm>
          <a:prstGeom prst="rect">
            <a:avLst/>
          </a:prstGeom>
          <a:noFill/>
          <a:ln/>
        </p:spPr>
        <p:txBody>
          <a:bodyPr wrap="square" rtlCol="0" anchor="ctr"/>
          <a:lstStyle/>
          <a:p>
            <a:pPr marL="0" indent="0" algn="r">
              <a:buNone/>
            </a:pPr>
            <a:r>
              <a:rPr lang="en-US" sz="900" dirty="0">
                <a:solidFill>
                  <a:srgbClr val="5B6B85"/>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50" b="1" kern="0" spc="200" dirty="0">
                <a:solidFill>
                  <a:srgbClr val="17607D"/>
                </a:solidFill>
                <a:latin typeface="Calibri" pitchFamily="34" charset="0"/>
                <a:ea typeface="Calibri" pitchFamily="34" charset="-122"/>
                <a:cs typeface="Calibri" pitchFamily="34" charset="-120"/>
              </a:rPr>
              <a:t>LOOKING AHEAD</a:t>
            </a:r>
            <a:endParaRPr lang="en-US" sz="1250" dirty="0"/>
          </a:p>
        </p:txBody>
      </p:sp>
      <p:sp>
        <p:nvSpPr>
          <p:cNvPr id="3" name="Text 1"/>
          <p:cNvSpPr/>
          <p:nvPr/>
        </p:nvSpPr>
        <p:spPr>
          <a:xfrm>
            <a:off x="548640" y="685800"/>
            <a:ext cx="10789920" cy="731520"/>
          </a:xfrm>
          <a:prstGeom prst="rect">
            <a:avLst/>
          </a:prstGeom>
          <a:noFill/>
          <a:ln/>
        </p:spPr>
        <p:txBody>
          <a:bodyPr wrap="square" rtlCol="0" anchor="ctr"/>
          <a:lstStyle/>
          <a:p>
            <a:pPr marL="0" indent="0">
              <a:buNone/>
            </a:pPr>
            <a:r>
              <a:rPr lang="en-US" sz="3000" b="1" dirty="0">
                <a:solidFill>
                  <a:srgbClr val="16213A"/>
                </a:solidFill>
                <a:latin typeface="Cambria" pitchFamily="34" charset="0"/>
                <a:ea typeface="Cambria" pitchFamily="34" charset="-122"/>
                <a:cs typeface="Cambria" pitchFamily="34" charset="-120"/>
              </a:rPr>
              <a:t>Scope, Limitations &amp; Future Enhancements</a:t>
            </a:r>
            <a:endParaRPr lang="en-US" sz="3000" dirty="0"/>
          </a:p>
        </p:txBody>
      </p:sp>
      <p:sp>
        <p:nvSpPr>
          <p:cNvPr id="4" name="Shape 2"/>
          <p:cNvSpPr/>
          <p:nvPr/>
        </p:nvSpPr>
        <p:spPr>
          <a:xfrm>
            <a:off x="548640" y="1691640"/>
            <a:ext cx="3529584" cy="4297680"/>
          </a:xfrm>
          <a:prstGeom prst="roundRect">
            <a:avLst>
              <a:gd name="adj" fmla="val 2591"/>
            </a:avLst>
          </a:prstGeom>
          <a:solidFill>
            <a:srgbClr val="E8F6F1"/>
          </a:solidFill>
          <a:ln/>
        </p:spPr>
      </p:sp>
      <p:sp>
        <p:nvSpPr>
          <p:cNvPr id="5" name="Text 3"/>
          <p:cNvSpPr/>
          <p:nvPr/>
        </p:nvSpPr>
        <p:spPr>
          <a:xfrm>
            <a:off x="804672" y="1920240"/>
            <a:ext cx="3017520" cy="548640"/>
          </a:xfrm>
          <a:prstGeom prst="rect">
            <a:avLst/>
          </a:prstGeom>
          <a:noFill/>
          <a:ln/>
        </p:spPr>
        <p:txBody>
          <a:bodyPr wrap="square" rtlCol="0" anchor="ctr"/>
          <a:lstStyle/>
          <a:p>
            <a:pPr marL="0" indent="0">
              <a:buNone/>
            </a:pPr>
            <a:r>
              <a:rPr lang="en-US" sz="1650" b="1" dirty="0">
                <a:solidFill>
                  <a:srgbClr val="146356"/>
                </a:solidFill>
                <a:latin typeface="Cambria" pitchFamily="34" charset="0"/>
                <a:ea typeface="Cambria" pitchFamily="34" charset="-122"/>
                <a:cs typeface="Cambria" pitchFamily="34" charset="-120"/>
              </a:rPr>
              <a:t>In Scope Today</a:t>
            </a:r>
            <a:endParaRPr lang="en-US" sz="1650" dirty="0"/>
          </a:p>
        </p:txBody>
      </p:sp>
      <p:sp>
        <p:nvSpPr>
          <p:cNvPr id="6" name="Shape 4"/>
          <p:cNvSpPr/>
          <p:nvPr/>
        </p:nvSpPr>
        <p:spPr>
          <a:xfrm>
            <a:off x="804672" y="2660904"/>
            <a:ext cx="100584" cy="100584"/>
          </a:xfrm>
          <a:prstGeom prst="ellipse">
            <a:avLst/>
          </a:prstGeom>
          <a:solidFill>
            <a:srgbClr val="146356"/>
          </a:solidFill>
          <a:ln/>
        </p:spPr>
      </p:sp>
      <p:sp>
        <p:nvSpPr>
          <p:cNvPr id="7" name="Text 5"/>
          <p:cNvSpPr/>
          <p:nvPr/>
        </p:nvSpPr>
        <p:spPr>
          <a:xfrm>
            <a:off x="1024128" y="2514600"/>
            <a:ext cx="2798064" cy="777240"/>
          </a:xfrm>
          <a:prstGeom prst="rect">
            <a:avLst/>
          </a:prstGeom>
          <a:noFill/>
          <a:ln/>
        </p:spPr>
        <p:txBody>
          <a:bodyPr wrap="square" rtlCol="0" anchor="ctr"/>
          <a:lstStyle/>
          <a:p>
            <a:pPr marL="0" indent="0">
              <a:lnSpc>
                <a:spcPct val="125000"/>
              </a:lnSpc>
              <a:buNone/>
            </a:pPr>
            <a:r>
              <a:rPr lang="en-US" sz="1150" dirty="0">
                <a:solidFill>
                  <a:srgbClr val="16213A"/>
                </a:solidFill>
                <a:latin typeface="Calibri" pitchFamily="34" charset="0"/>
                <a:ea typeface="Calibri" pitchFamily="34" charset="-122"/>
                <a:cs typeface="Calibri" pitchFamily="34" charset="-120"/>
              </a:rPr>
              <a:t>chmod, chown, sudo, rm, ssh, ufw, systemctl &amp; more</a:t>
            </a:r>
            <a:endParaRPr lang="en-US" sz="1150" dirty="0"/>
          </a:p>
        </p:txBody>
      </p:sp>
      <p:sp>
        <p:nvSpPr>
          <p:cNvPr id="8" name="Shape 6"/>
          <p:cNvSpPr/>
          <p:nvPr/>
        </p:nvSpPr>
        <p:spPr>
          <a:xfrm>
            <a:off x="804672" y="3712464"/>
            <a:ext cx="100584" cy="100584"/>
          </a:xfrm>
          <a:prstGeom prst="ellipse">
            <a:avLst/>
          </a:prstGeom>
          <a:solidFill>
            <a:srgbClr val="146356"/>
          </a:solidFill>
          <a:ln/>
        </p:spPr>
      </p:sp>
      <p:sp>
        <p:nvSpPr>
          <p:cNvPr id="9" name="Text 7"/>
          <p:cNvSpPr/>
          <p:nvPr/>
        </p:nvSpPr>
        <p:spPr>
          <a:xfrm>
            <a:off x="1024128" y="3566160"/>
            <a:ext cx="2798064" cy="777240"/>
          </a:xfrm>
          <a:prstGeom prst="rect">
            <a:avLst/>
          </a:prstGeom>
          <a:noFill/>
          <a:ln/>
        </p:spPr>
        <p:txBody>
          <a:bodyPr wrap="square" rtlCol="0" anchor="ctr"/>
          <a:lstStyle/>
          <a:p>
            <a:pPr marL="0" indent="0">
              <a:lnSpc>
                <a:spcPct val="125000"/>
              </a:lnSpc>
              <a:buNone/>
            </a:pPr>
            <a:r>
              <a:rPr lang="en-US" sz="1150" dirty="0">
                <a:solidFill>
                  <a:srgbClr val="16213A"/>
                </a:solidFill>
                <a:latin typeface="Calibri" pitchFamily="34" charset="0"/>
                <a:ea typeface="Calibri" pitchFamily="34" charset="-122"/>
                <a:cs typeface="Calibri" pitchFamily="34" charset="-120"/>
              </a:rPr>
              <a:t>Symbolic &amp; octal permission analysis</a:t>
            </a:r>
            <a:endParaRPr lang="en-US" sz="1150" dirty="0"/>
          </a:p>
        </p:txBody>
      </p:sp>
      <p:sp>
        <p:nvSpPr>
          <p:cNvPr id="10" name="Shape 8"/>
          <p:cNvSpPr/>
          <p:nvPr/>
        </p:nvSpPr>
        <p:spPr>
          <a:xfrm>
            <a:off x="804672" y="4764024"/>
            <a:ext cx="100584" cy="100584"/>
          </a:xfrm>
          <a:prstGeom prst="ellipse">
            <a:avLst/>
          </a:prstGeom>
          <a:solidFill>
            <a:srgbClr val="146356"/>
          </a:solidFill>
          <a:ln/>
        </p:spPr>
      </p:sp>
      <p:sp>
        <p:nvSpPr>
          <p:cNvPr id="11" name="Text 9"/>
          <p:cNvSpPr/>
          <p:nvPr/>
        </p:nvSpPr>
        <p:spPr>
          <a:xfrm>
            <a:off x="1024128" y="4617720"/>
            <a:ext cx="2798064" cy="777240"/>
          </a:xfrm>
          <a:prstGeom prst="rect">
            <a:avLst/>
          </a:prstGeom>
          <a:noFill/>
          <a:ln/>
        </p:spPr>
        <p:txBody>
          <a:bodyPr wrap="square" rtlCol="0" anchor="ctr"/>
          <a:lstStyle/>
          <a:p>
            <a:pPr marL="0" indent="0">
              <a:lnSpc>
                <a:spcPct val="125000"/>
              </a:lnSpc>
              <a:buNone/>
            </a:pPr>
            <a:r>
              <a:rPr lang="en-US" sz="1150" dirty="0">
                <a:solidFill>
                  <a:srgbClr val="16213A"/>
                </a:solidFill>
                <a:latin typeface="Calibri" pitchFamily="34" charset="0"/>
                <a:ea typeface="Calibri" pitchFamily="34" charset="-122"/>
                <a:cs typeface="Calibri" pitchFamily="34" charset="-120"/>
              </a:rPr>
              <a:t>Hardening checklist + PDF report export</a:t>
            </a:r>
            <a:endParaRPr lang="en-US" sz="1150" dirty="0"/>
          </a:p>
        </p:txBody>
      </p:sp>
      <p:sp>
        <p:nvSpPr>
          <p:cNvPr id="12" name="Shape 10"/>
          <p:cNvSpPr/>
          <p:nvPr/>
        </p:nvSpPr>
        <p:spPr>
          <a:xfrm>
            <a:off x="4334256" y="1691640"/>
            <a:ext cx="3529584" cy="4297680"/>
          </a:xfrm>
          <a:prstGeom prst="roundRect">
            <a:avLst>
              <a:gd name="adj" fmla="val 2591"/>
            </a:avLst>
          </a:prstGeom>
          <a:solidFill>
            <a:srgbClr val="FBF2E4"/>
          </a:solidFill>
          <a:ln/>
        </p:spPr>
      </p:sp>
      <p:sp>
        <p:nvSpPr>
          <p:cNvPr id="13" name="Text 11"/>
          <p:cNvSpPr/>
          <p:nvPr/>
        </p:nvSpPr>
        <p:spPr>
          <a:xfrm>
            <a:off x="4590288" y="1920240"/>
            <a:ext cx="3017520" cy="548640"/>
          </a:xfrm>
          <a:prstGeom prst="rect">
            <a:avLst/>
          </a:prstGeom>
          <a:noFill/>
          <a:ln/>
        </p:spPr>
        <p:txBody>
          <a:bodyPr wrap="square" rtlCol="0" anchor="ctr"/>
          <a:lstStyle/>
          <a:p>
            <a:pPr marL="0" indent="0">
              <a:buNone/>
            </a:pPr>
            <a:r>
              <a:rPr lang="en-US" sz="1650" b="1" dirty="0">
                <a:solidFill>
                  <a:srgbClr val="8A5A1F"/>
                </a:solidFill>
                <a:latin typeface="Cambria" pitchFamily="34" charset="0"/>
                <a:ea typeface="Cambria" pitchFamily="34" charset="-122"/>
                <a:cs typeface="Cambria" pitchFamily="34" charset="-120"/>
              </a:rPr>
              <a:t>Current Limitations</a:t>
            </a:r>
            <a:endParaRPr lang="en-US" sz="1650" dirty="0"/>
          </a:p>
        </p:txBody>
      </p:sp>
      <p:sp>
        <p:nvSpPr>
          <p:cNvPr id="14" name="Shape 12"/>
          <p:cNvSpPr/>
          <p:nvPr/>
        </p:nvSpPr>
        <p:spPr>
          <a:xfrm>
            <a:off x="4590288" y="2660904"/>
            <a:ext cx="100584" cy="100584"/>
          </a:xfrm>
          <a:prstGeom prst="ellipse">
            <a:avLst/>
          </a:prstGeom>
          <a:solidFill>
            <a:srgbClr val="8A5A1F"/>
          </a:solidFill>
          <a:ln/>
        </p:spPr>
      </p:sp>
      <p:sp>
        <p:nvSpPr>
          <p:cNvPr id="15" name="Text 13"/>
          <p:cNvSpPr/>
          <p:nvPr/>
        </p:nvSpPr>
        <p:spPr>
          <a:xfrm>
            <a:off x="4809744" y="2514600"/>
            <a:ext cx="2798064" cy="777240"/>
          </a:xfrm>
          <a:prstGeom prst="rect">
            <a:avLst/>
          </a:prstGeom>
          <a:noFill/>
          <a:ln/>
        </p:spPr>
        <p:txBody>
          <a:bodyPr wrap="square" rtlCol="0" anchor="ctr"/>
          <a:lstStyle/>
          <a:p>
            <a:pPr marL="0" indent="0">
              <a:lnSpc>
                <a:spcPct val="125000"/>
              </a:lnSpc>
              <a:buNone/>
            </a:pPr>
            <a:r>
              <a:rPr lang="en-US" sz="1150" dirty="0">
                <a:solidFill>
                  <a:srgbClr val="16213A"/>
                </a:solidFill>
                <a:latin typeface="Calibri" pitchFamily="34" charset="0"/>
                <a:ea typeface="Calibri" pitchFamily="34" charset="-122"/>
                <a:cs typeface="Calibri" pitchFamily="34" charset="-120"/>
              </a:rPr>
              <a:t>No live scan of a real Linux host</a:t>
            </a:r>
            <a:endParaRPr lang="en-US" sz="1150" dirty="0"/>
          </a:p>
        </p:txBody>
      </p:sp>
      <p:sp>
        <p:nvSpPr>
          <p:cNvPr id="16" name="Shape 14"/>
          <p:cNvSpPr/>
          <p:nvPr/>
        </p:nvSpPr>
        <p:spPr>
          <a:xfrm>
            <a:off x="4590288" y="3712464"/>
            <a:ext cx="100584" cy="100584"/>
          </a:xfrm>
          <a:prstGeom prst="ellipse">
            <a:avLst/>
          </a:prstGeom>
          <a:solidFill>
            <a:srgbClr val="8A5A1F"/>
          </a:solidFill>
          <a:ln/>
        </p:spPr>
      </p:sp>
      <p:sp>
        <p:nvSpPr>
          <p:cNvPr id="17" name="Text 15"/>
          <p:cNvSpPr/>
          <p:nvPr/>
        </p:nvSpPr>
        <p:spPr>
          <a:xfrm>
            <a:off x="4809744" y="3566160"/>
            <a:ext cx="2798064" cy="777240"/>
          </a:xfrm>
          <a:prstGeom prst="rect">
            <a:avLst/>
          </a:prstGeom>
          <a:noFill/>
          <a:ln/>
        </p:spPr>
        <p:txBody>
          <a:bodyPr wrap="square" rtlCol="0" anchor="ctr"/>
          <a:lstStyle/>
          <a:p>
            <a:pPr marL="0" indent="0">
              <a:lnSpc>
                <a:spcPct val="125000"/>
              </a:lnSpc>
              <a:buNone/>
            </a:pPr>
            <a:r>
              <a:rPr lang="en-US" sz="1150" dirty="0">
                <a:solidFill>
                  <a:srgbClr val="16213A"/>
                </a:solidFill>
                <a:latin typeface="Calibri" pitchFamily="34" charset="0"/>
                <a:ea typeface="Calibri" pitchFamily="34" charset="-122"/>
                <a:cs typeface="Calibri" pitchFamily="34" charset="-120"/>
              </a:rPr>
              <a:t>No ACL / SELinux policy parsing</a:t>
            </a:r>
            <a:endParaRPr lang="en-US" sz="1150" dirty="0"/>
          </a:p>
        </p:txBody>
      </p:sp>
      <p:sp>
        <p:nvSpPr>
          <p:cNvPr id="18" name="Shape 16"/>
          <p:cNvSpPr/>
          <p:nvPr/>
        </p:nvSpPr>
        <p:spPr>
          <a:xfrm>
            <a:off x="4590288" y="4764024"/>
            <a:ext cx="100584" cy="100584"/>
          </a:xfrm>
          <a:prstGeom prst="ellipse">
            <a:avLst/>
          </a:prstGeom>
          <a:solidFill>
            <a:srgbClr val="8A5A1F"/>
          </a:solidFill>
          <a:ln/>
        </p:spPr>
      </p:sp>
      <p:sp>
        <p:nvSpPr>
          <p:cNvPr id="19" name="Text 17"/>
          <p:cNvSpPr/>
          <p:nvPr/>
        </p:nvSpPr>
        <p:spPr>
          <a:xfrm>
            <a:off x="4809744" y="4617720"/>
            <a:ext cx="2798064" cy="777240"/>
          </a:xfrm>
          <a:prstGeom prst="rect">
            <a:avLst/>
          </a:prstGeom>
          <a:noFill/>
          <a:ln/>
        </p:spPr>
        <p:txBody>
          <a:bodyPr wrap="square" rtlCol="0" anchor="ctr"/>
          <a:lstStyle/>
          <a:p>
            <a:pPr marL="0" indent="0">
              <a:lnSpc>
                <a:spcPct val="125000"/>
              </a:lnSpc>
              <a:buNone/>
            </a:pPr>
            <a:r>
              <a:rPr lang="en-US" sz="1150" dirty="0">
                <a:solidFill>
                  <a:srgbClr val="16213A"/>
                </a:solidFill>
                <a:latin typeface="Calibri" pitchFamily="34" charset="0"/>
                <a:ea typeface="Calibri" pitchFamily="34" charset="-122"/>
                <a:cs typeface="Calibri" pitchFamily="34" charset="-120"/>
              </a:rPr>
              <a:t>Score is educational, not an enterprise rating</a:t>
            </a:r>
            <a:endParaRPr lang="en-US" sz="1150" dirty="0"/>
          </a:p>
        </p:txBody>
      </p:sp>
      <p:sp>
        <p:nvSpPr>
          <p:cNvPr id="20" name="Shape 18"/>
          <p:cNvSpPr/>
          <p:nvPr/>
        </p:nvSpPr>
        <p:spPr>
          <a:xfrm>
            <a:off x="8119872" y="1691640"/>
            <a:ext cx="3529584" cy="4297680"/>
          </a:xfrm>
          <a:prstGeom prst="roundRect">
            <a:avLst>
              <a:gd name="adj" fmla="val 2591"/>
            </a:avLst>
          </a:prstGeom>
          <a:solidFill>
            <a:srgbClr val="E9EEFB"/>
          </a:solidFill>
          <a:ln/>
        </p:spPr>
      </p:sp>
      <p:sp>
        <p:nvSpPr>
          <p:cNvPr id="21" name="Text 19"/>
          <p:cNvSpPr/>
          <p:nvPr/>
        </p:nvSpPr>
        <p:spPr>
          <a:xfrm>
            <a:off x="8375904" y="1920240"/>
            <a:ext cx="3017520" cy="548640"/>
          </a:xfrm>
          <a:prstGeom prst="rect">
            <a:avLst/>
          </a:prstGeom>
          <a:noFill/>
          <a:ln/>
        </p:spPr>
        <p:txBody>
          <a:bodyPr wrap="square" rtlCol="0" anchor="ctr"/>
          <a:lstStyle/>
          <a:p>
            <a:pPr marL="0" indent="0">
              <a:buNone/>
            </a:pPr>
            <a:r>
              <a:rPr lang="en-US" sz="1650" b="1" dirty="0">
                <a:solidFill>
                  <a:srgbClr val="1F3D8A"/>
                </a:solidFill>
                <a:latin typeface="Cambria" pitchFamily="34" charset="0"/>
                <a:ea typeface="Cambria" pitchFamily="34" charset="-122"/>
                <a:cs typeface="Cambria" pitchFamily="34" charset="-120"/>
              </a:rPr>
              <a:t>Future Enhancements</a:t>
            </a:r>
            <a:endParaRPr lang="en-US" sz="1650" dirty="0"/>
          </a:p>
        </p:txBody>
      </p:sp>
      <p:sp>
        <p:nvSpPr>
          <p:cNvPr id="22" name="Shape 20"/>
          <p:cNvSpPr/>
          <p:nvPr/>
        </p:nvSpPr>
        <p:spPr>
          <a:xfrm>
            <a:off x="8375904" y="2660904"/>
            <a:ext cx="100584" cy="100584"/>
          </a:xfrm>
          <a:prstGeom prst="ellipse">
            <a:avLst/>
          </a:prstGeom>
          <a:solidFill>
            <a:srgbClr val="1F3D8A"/>
          </a:solidFill>
          <a:ln/>
        </p:spPr>
      </p:sp>
      <p:sp>
        <p:nvSpPr>
          <p:cNvPr id="23" name="Text 21"/>
          <p:cNvSpPr/>
          <p:nvPr/>
        </p:nvSpPr>
        <p:spPr>
          <a:xfrm>
            <a:off x="8595360" y="2514600"/>
            <a:ext cx="2798064" cy="777240"/>
          </a:xfrm>
          <a:prstGeom prst="rect">
            <a:avLst/>
          </a:prstGeom>
          <a:noFill/>
          <a:ln/>
        </p:spPr>
        <p:txBody>
          <a:bodyPr wrap="square" rtlCol="0" anchor="ctr"/>
          <a:lstStyle/>
          <a:p>
            <a:pPr marL="0" indent="0">
              <a:lnSpc>
                <a:spcPct val="125000"/>
              </a:lnSpc>
              <a:buNone/>
            </a:pPr>
            <a:r>
              <a:rPr lang="en-US" sz="1150" dirty="0">
                <a:solidFill>
                  <a:srgbClr val="16213A"/>
                </a:solidFill>
                <a:latin typeface="Calibri" pitchFamily="34" charset="0"/>
                <a:ea typeface="Calibri" pitchFamily="34" charset="-122"/>
                <a:cs typeface="Calibri" pitchFamily="34" charset="-120"/>
              </a:rPr>
              <a:t>Optional consent-based LLM for richer answers</a:t>
            </a:r>
            <a:endParaRPr lang="en-US" sz="1150" dirty="0"/>
          </a:p>
        </p:txBody>
      </p:sp>
      <p:sp>
        <p:nvSpPr>
          <p:cNvPr id="24" name="Shape 22"/>
          <p:cNvSpPr/>
          <p:nvPr/>
        </p:nvSpPr>
        <p:spPr>
          <a:xfrm>
            <a:off x="8375904" y="3712464"/>
            <a:ext cx="100584" cy="100584"/>
          </a:xfrm>
          <a:prstGeom prst="ellipse">
            <a:avLst/>
          </a:prstGeom>
          <a:solidFill>
            <a:srgbClr val="1F3D8A"/>
          </a:solidFill>
          <a:ln/>
        </p:spPr>
      </p:sp>
      <p:sp>
        <p:nvSpPr>
          <p:cNvPr id="25" name="Text 23"/>
          <p:cNvSpPr/>
          <p:nvPr/>
        </p:nvSpPr>
        <p:spPr>
          <a:xfrm>
            <a:off x="8595360" y="3566160"/>
            <a:ext cx="2798064" cy="777240"/>
          </a:xfrm>
          <a:prstGeom prst="rect">
            <a:avLst/>
          </a:prstGeom>
          <a:noFill/>
          <a:ln/>
        </p:spPr>
        <p:txBody>
          <a:bodyPr wrap="square" rtlCol="0" anchor="ctr"/>
          <a:lstStyle/>
          <a:p>
            <a:pPr marL="0" indent="0">
              <a:lnSpc>
                <a:spcPct val="125000"/>
              </a:lnSpc>
              <a:buNone/>
            </a:pPr>
            <a:r>
              <a:rPr lang="en-US" sz="1150" dirty="0">
                <a:solidFill>
                  <a:srgbClr val="16213A"/>
                </a:solidFill>
                <a:latin typeface="Calibri" pitchFamily="34" charset="0"/>
                <a:ea typeface="Calibri" pitchFamily="34" charset="-122"/>
                <a:cs typeface="Calibri" pitchFamily="34" charset="-120"/>
              </a:rPr>
              <a:t>Distribution-aware advice (Ubuntu/RHEL/Kali)</a:t>
            </a:r>
            <a:endParaRPr lang="en-US" sz="1150" dirty="0"/>
          </a:p>
        </p:txBody>
      </p:sp>
      <p:sp>
        <p:nvSpPr>
          <p:cNvPr id="26" name="Shape 24"/>
          <p:cNvSpPr/>
          <p:nvPr/>
        </p:nvSpPr>
        <p:spPr>
          <a:xfrm>
            <a:off x="8375904" y="4764024"/>
            <a:ext cx="100584" cy="100584"/>
          </a:xfrm>
          <a:prstGeom prst="ellipse">
            <a:avLst/>
          </a:prstGeom>
          <a:solidFill>
            <a:srgbClr val="1F3D8A"/>
          </a:solidFill>
          <a:ln/>
        </p:spPr>
      </p:sp>
      <p:sp>
        <p:nvSpPr>
          <p:cNvPr id="27" name="Text 25"/>
          <p:cNvSpPr/>
          <p:nvPr/>
        </p:nvSpPr>
        <p:spPr>
          <a:xfrm>
            <a:off x="8595360" y="4617720"/>
            <a:ext cx="2798064" cy="777240"/>
          </a:xfrm>
          <a:prstGeom prst="rect">
            <a:avLst/>
          </a:prstGeom>
          <a:noFill/>
          <a:ln/>
        </p:spPr>
        <p:txBody>
          <a:bodyPr wrap="square" rtlCol="0" anchor="ctr"/>
          <a:lstStyle/>
          <a:p>
            <a:pPr marL="0" indent="0">
              <a:lnSpc>
                <a:spcPct val="125000"/>
              </a:lnSpc>
              <a:buNone/>
            </a:pPr>
            <a:r>
              <a:rPr lang="en-US" sz="1150" dirty="0">
                <a:solidFill>
                  <a:srgbClr val="16213A"/>
                </a:solidFill>
                <a:latin typeface="Calibri" pitchFamily="34" charset="0"/>
                <a:ea typeface="Calibri" pitchFamily="34" charset="-122"/>
                <a:cs typeface="Calibri" pitchFamily="34" charset="-120"/>
              </a:rPr>
              <a:t>Docker-based safe lab mode for demos</a:t>
            </a:r>
            <a:endParaRPr lang="en-US" sz="1150" dirty="0"/>
          </a:p>
        </p:txBody>
      </p:sp>
      <p:sp>
        <p:nvSpPr>
          <p:cNvPr id="28" name="Text 26"/>
          <p:cNvSpPr/>
          <p:nvPr/>
        </p:nvSpPr>
        <p:spPr>
          <a:xfrm>
            <a:off x="457200" y="6510528"/>
            <a:ext cx="7315200" cy="274320"/>
          </a:xfrm>
          <a:prstGeom prst="rect">
            <a:avLst/>
          </a:prstGeom>
          <a:noFill/>
          <a:ln/>
        </p:spPr>
        <p:txBody>
          <a:bodyPr wrap="square" rtlCol="0" anchor="ctr"/>
          <a:lstStyle/>
          <a:p>
            <a:pPr marL="0" indent="0" algn="l">
              <a:buNone/>
            </a:pPr>
            <a:r>
              <a:rPr lang="en-US" sz="900" dirty="0">
                <a:solidFill>
                  <a:srgbClr val="5B6B85"/>
                </a:solidFill>
                <a:latin typeface="Calibri" pitchFamily="34" charset="0"/>
                <a:ea typeface="Calibri" pitchFamily="34" charset="-122"/>
                <a:cs typeface="Calibri" pitchFamily="34" charset="-120"/>
              </a:rPr>
              <a:t>AI Linux Security Assistant</a:t>
            </a:r>
            <a:endParaRPr lang="en-US" sz="900" dirty="0"/>
          </a:p>
        </p:txBody>
      </p:sp>
      <p:sp>
        <p:nvSpPr>
          <p:cNvPr id="29" name="Text 27"/>
          <p:cNvSpPr/>
          <p:nvPr/>
        </p:nvSpPr>
        <p:spPr>
          <a:xfrm>
            <a:off x="11247120" y="6510528"/>
            <a:ext cx="457200" cy="274320"/>
          </a:xfrm>
          <a:prstGeom prst="rect">
            <a:avLst/>
          </a:prstGeom>
          <a:noFill/>
          <a:ln/>
        </p:spPr>
        <p:txBody>
          <a:bodyPr wrap="square" rtlCol="0" anchor="ctr"/>
          <a:lstStyle/>
          <a:p>
            <a:pPr marL="0" indent="0" algn="r">
              <a:buNone/>
            </a:pPr>
            <a:r>
              <a:rPr lang="en-US" sz="900" dirty="0">
                <a:solidFill>
                  <a:srgbClr val="5B6B85"/>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B33"/>
        </a:solidFill>
        <a:effectLst/>
      </p:bgPr>
    </p:bg>
    <p:spTree>
      <p:nvGrpSpPr>
        <p:cNvPr id="1" name=""/>
        <p:cNvGrpSpPr/>
        <p:nvPr/>
      </p:nvGrpSpPr>
      <p:grpSpPr>
        <a:xfrm>
          <a:off x="0" y="0"/>
          <a:ext cx="0" cy="0"/>
          <a:chOff x="0" y="0"/>
          <a:chExt cx="0" cy="0"/>
        </a:xfrm>
      </p:grpSpPr>
      <p:sp>
        <p:nvSpPr>
          <p:cNvPr id="2" name="Shape 0"/>
          <p:cNvSpPr/>
          <p:nvPr/>
        </p:nvSpPr>
        <p:spPr>
          <a:xfrm>
            <a:off x="-1645920" y="-1645920"/>
            <a:ext cx="4206240" cy="4206240"/>
          </a:xfrm>
          <a:prstGeom prst="ellipse">
            <a:avLst/>
          </a:prstGeom>
          <a:solidFill>
            <a:srgbClr val="17284A"/>
          </a:solidFill>
          <a:ln/>
        </p:spPr>
      </p:sp>
      <p:sp>
        <p:nvSpPr>
          <p:cNvPr id="3" name="Shape 1"/>
          <p:cNvSpPr/>
          <p:nvPr/>
        </p:nvSpPr>
        <p:spPr>
          <a:xfrm>
            <a:off x="9692640" y="4206240"/>
            <a:ext cx="4023360" cy="4023360"/>
          </a:xfrm>
          <a:prstGeom prst="ellipse">
            <a:avLst/>
          </a:prstGeom>
          <a:solidFill>
            <a:srgbClr val="17284A"/>
          </a:solidFill>
          <a:ln/>
        </p:spPr>
      </p:sp>
      <p:sp>
        <p:nvSpPr>
          <p:cNvPr id="4" name="Text 2"/>
          <p:cNvSpPr/>
          <p:nvPr/>
        </p:nvSpPr>
        <p:spPr>
          <a:xfrm>
            <a:off x="822960" y="1371600"/>
            <a:ext cx="7315200" cy="320040"/>
          </a:xfrm>
          <a:prstGeom prst="rect">
            <a:avLst/>
          </a:prstGeom>
          <a:noFill/>
          <a:ln/>
        </p:spPr>
        <p:txBody>
          <a:bodyPr wrap="square" rtlCol="0" anchor="ctr"/>
          <a:lstStyle/>
          <a:p>
            <a:pPr marL="0" indent="0">
              <a:buNone/>
            </a:pPr>
            <a:r>
              <a:rPr lang="en-US" sz="1300" b="1" kern="0" spc="200" dirty="0">
                <a:solidFill>
                  <a:srgbClr val="27E1C1"/>
                </a:solidFill>
                <a:latin typeface="Calibri" pitchFamily="34" charset="0"/>
                <a:ea typeface="Calibri" pitchFamily="34" charset="-122"/>
                <a:cs typeface="Calibri" pitchFamily="34" charset="-120"/>
              </a:rPr>
              <a:t>CONCLUSION</a:t>
            </a:r>
            <a:endParaRPr lang="en-US" sz="1300" dirty="0"/>
          </a:p>
        </p:txBody>
      </p:sp>
      <p:sp>
        <p:nvSpPr>
          <p:cNvPr id="5" name="Text 3"/>
          <p:cNvSpPr/>
          <p:nvPr/>
        </p:nvSpPr>
        <p:spPr>
          <a:xfrm>
            <a:off x="777240" y="1737360"/>
            <a:ext cx="10058400" cy="914400"/>
          </a:xfrm>
          <a:prstGeom prst="rect">
            <a:avLst/>
          </a:prstGeom>
          <a:noFill/>
          <a:ln/>
        </p:spPr>
        <p:txBody>
          <a:bodyPr wrap="square"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Pause. Understand. Then Act.</a:t>
            </a:r>
            <a:endParaRPr lang="en-US" sz="3800" dirty="0"/>
          </a:p>
        </p:txBody>
      </p:sp>
      <p:sp>
        <p:nvSpPr>
          <p:cNvPr id="6" name="Text 4"/>
          <p:cNvSpPr/>
          <p:nvPr/>
        </p:nvSpPr>
        <p:spPr>
          <a:xfrm>
            <a:off x="822960" y="2697480"/>
            <a:ext cx="8412480" cy="1188720"/>
          </a:xfrm>
          <a:prstGeom prst="rect">
            <a:avLst/>
          </a:prstGeom>
          <a:noFill/>
          <a:ln/>
        </p:spPr>
        <p:txBody>
          <a:bodyPr wrap="square" rtlCol="0" anchor="ctr"/>
          <a:lstStyle/>
          <a:p>
            <a:pPr marL="0" indent="0">
              <a:lnSpc>
                <a:spcPct val="140000"/>
              </a:lnSpc>
              <a:buNone/>
            </a:pPr>
            <a:r>
              <a:rPr lang="en-US" sz="1450" dirty="0">
                <a:solidFill>
                  <a:srgbClr val="C7D2E8"/>
                </a:solidFill>
                <a:latin typeface="Calibri" pitchFamily="34" charset="0"/>
                <a:ea typeface="Calibri" pitchFamily="34" charset="-122"/>
                <a:cs typeface="Calibri" pitchFamily="34" charset="-120"/>
              </a:rPr>
              <a:t>The AI Linux Security Assistant bridges Linux command learning and cybersecurity awareness — encouraging every learner to understand a command, inspect its permissions, weigh the risk, and choose the least-privilege option before touching a real system.</a:t>
            </a:r>
            <a:endParaRPr lang="en-US" sz="1450" dirty="0"/>
          </a:p>
        </p:txBody>
      </p:sp>
      <p:sp>
        <p:nvSpPr>
          <p:cNvPr id="7" name="Shape 5"/>
          <p:cNvSpPr/>
          <p:nvPr/>
        </p:nvSpPr>
        <p:spPr>
          <a:xfrm>
            <a:off x="822960" y="4069080"/>
            <a:ext cx="2011680" cy="0"/>
          </a:xfrm>
          <a:prstGeom prst="line">
            <a:avLst/>
          </a:prstGeom>
          <a:noFill/>
          <a:ln w="31750">
            <a:solidFill>
              <a:srgbClr val="27E1C1"/>
            </a:solidFill>
            <a:prstDash val="solid"/>
          </a:ln>
        </p:spPr>
      </p:sp>
      <p:sp>
        <p:nvSpPr>
          <p:cNvPr id="8" name="Text 6"/>
          <p:cNvSpPr/>
          <p:nvPr/>
        </p:nvSpPr>
        <p:spPr>
          <a:xfrm>
            <a:off x="777240" y="4297680"/>
            <a:ext cx="7315200" cy="64008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Thank You</a:t>
            </a:r>
            <a:endParaRPr lang="en-US" sz="2600" dirty="0"/>
          </a:p>
        </p:txBody>
      </p:sp>
      <p:sp>
        <p:nvSpPr>
          <p:cNvPr id="9" name="Text 7"/>
          <p:cNvSpPr/>
          <p:nvPr/>
        </p:nvSpPr>
        <p:spPr>
          <a:xfrm>
            <a:off x="822960" y="4892040"/>
            <a:ext cx="8229600" cy="365760"/>
          </a:xfrm>
          <a:prstGeom prst="rect">
            <a:avLst/>
          </a:prstGeom>
          <a:noFill/>
          <a:ln/>
        </p:spPr>
        <p:txBody>
          <a:bodyPr wrap="square" rtlCol="0" anchor="ctr"/>
          <a:lstStyle/>
          <a:p>
            <a:pPr marL="0" indent="0">
              <a:buNone/>
            </a:pPr>
            <a:r>
              <a:rPr lang="en-US" sz="1300" dirty="0">
                <a:solidFill>
                  <a:srgbClr val="AEB9D4"/>
                </a:solidFill>
                <a:latin typeface="Calibri" pitchFamily="34" charset="0"/>
                <a:ea typeface="Calibri" pitchFamily="34" charset="-122"/>
                <a:cs typeface="Calibri" pitchFamily="34" charset="-120"/>
              </a:rPr>
              <a:t>Basaaria Imroz  ·  AI Linux Security Assistant  </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139</TotalTime>
  <Words>2798</Words>
  <Application>Microsoft Office PowerPoint</Application>
  <PresentationFormat>Widescreen</PresentationFormat>
  <Paragraphs>247</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Basaaria Imroz</cp:lastModifiedBy>
  <cp:revision>2</cp:revision>
  <dcterms:created xsi:type="dcterms:W3CDTF">2026-07-23T05:01:27Z</dcterms:created>
  <dcterms:modified xsi:type="dcterms:W3CDTF">2026-07-23T07:25:44Z</dcterms:modified>
</cp:coreProperties>
</file>